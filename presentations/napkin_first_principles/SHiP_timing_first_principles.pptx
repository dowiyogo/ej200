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30"/>
                </a:solidFill>
                <a:latin typeface="Calibri"/>
              </a:defRPr>
            </a:pPr>
            <a:r>
              <a:rPr sz="1300" b="0" i="0" u="none" strike="noStrike">
                <a:solidFill>
                  <a:srgbClr val="0E1730"/>
                </a:solidFill>
                <a:latin typeface="Calibri"/>
              </a:rPr>
              <a:t>Survival vs number of reflections N   (R = 0.98)</a:t>
            </a:r>
          </a:p>
        </c:rich>
      </c:tx>
      <c:layout/>
      <c:overlay val="0"/>
    </c:title>
    <c:autoTitleDeleted val="0"/>
    <c:plotArea>
      <c:layout/>
      <c:lineChart>
        <c:varyColors val="0"/>
        <c:ser>
          <c:idx val="0"/>
          <c:order val="0"/>
          <c:tx>
            <c:strRef>
              <c:f>Sheet1!$B$1</c:f>
              <c:strCache>
                <c:ptCount val="1"/>
                <c:pt idx="0">
                  <c:v>Survival R^N, R = 0.98</c:v>
                </c:pt>
              </c:strCache>
            </c:strRef>
          </c:tx>
          <c:spPr>
            <a:solidFill>
              <a:srgbClr val="1FA5C8"/>
            </a:solidFill>
            <a:ln w="38100" cap="flat">
              <a:solidFill>
                <a:srgbClr val="1FA5C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A5C8"/>
              </a:solidFill>
              <a:ln w="9525" cap="flat">
                <a:solidFill>
                  <a:srgbClr val="1FA5C8"/>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Sheet1!$B$2:$B$12</c:f>
              <c:numCache>
                <c:formatCode>General</c:formatCode>
                <c:ptCount val="11"/>
                <c:pt idx="0">
                  <c:v>1</c:v>
                </c:pt>
                <c:pt idx="1">
                  <c:v>0.817</c:v>
                </c:pt>
                <c:pt idx="2">
                  <c:v>0.668</c:v>
                </c:pt>
                <c:pt idx="3">
                  <c:v>0.545</c:v>
                </c:pt>
                <c:pt idx="4">
                  <c:v>0.446</c:v>
                </c:pt>
                <c:pt idx="5">
                  <c:v>0.364</c:v>
                </c:pt>
                <c:pt idx="6">
                  <c:v>0.298</c:v>
                </c:pt>
                <c:pt idx="7">
                  <c:v>0.243</c:v>
                </c:pt>
                <c:pt idx="8">
                  <c:v>0.199</c:v>
                </c:pt>
                <c:pt idx="9">
                  <c:v>0.162</c:v>
                </c:pt>
                <c:pt idx="10">
                  <c:v>0.133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A6478"/>
                    </a:solidFill>
                    <a:latin typeface="Arial"/>
                  </a:defRPr>
                </a:pPr>
                <a:r>
                  <a:rPr sz="1000" b="0" i="0" u="none" strike="noStrike">
                    <a:solidFill>
                      <a:srgbClr val="5A6478"/>
                    </a:solidFill>
                    <a:latin typeface="Arial"/>
                  </a:rPr>
                  <a:t>N  (axis runs 0 to 100 in steps of 10)</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E1730"/>
                </a:solidFill>
                <a:latin typeface="Calibri"/>
              </a:defRPr>
            </a:pPr>
            <a:r>
              <a:rPr sz="1250" b="0" i="0" u="none" strike="noStrike">
                <a:solidFill>
                  <a:srgbClr val="0E1730"/>
                </a:solidFill>
                <a:latin typeface="Calibri"/>
              </a:rPr>
              <a:t>Axial best case, centre to one end</a:t>
            </a:r>
          </a:p>
        </c:rich>
      </c:tx>
      <c:layout/>
      <c:overlay val="0"/>
    </c:title>
    <c:autoTitleDeleted val="0"/>
    <c:plotArea>
      <c:layout/>
      <c:barChart>
        <c:barDir val="col"/>
        <c:grouping val="clustered"/>
        <c:varyColors val="0"/>
        <c:ser>
          <c:idx val="0"/>
          <c:order val="0"/>
          <c:tx>
            <c:strRef>
              <c:f>Sheet1!$B$1</c:f>
              <c:strCache>
                <c:ptCount val="1"/>
                <c:pt idx="0">
                  <c:v>Light surviving 70 cm</c:v>
                </c:pt>
              </c:strCache>
            </c:strRef>
          </c:tx>
          <c:spPr>
            <a:solidFill>
              <a:srgbClr val="2E5FA3"/>
            </a:solidFill>
            <a:effectLst/>
          </c:spPr>
          <c:invertIfNegative val="0"/>
          <c:dLbls>
            <c:numFmt formatCode="0.00" sourceLinked="0"/>
            <c:txPr>
              <a:bodyPr/>
              <a:lstStyle/>
              <a:p>
                <a:pPr>
                  <a:defRPr b="1" i="0" strike="noStrike" sz="1150" u="none">
                    <a:solidFill>
                      <a:srgbClr val="0E1730"/>
                    </a:solidFill>
                    <a:latin typeface="Arial"/>
                  </a:defRPr>
                </a:pPr>
              </a:p>
            </c:txPr>
            <c:showLegendKey val="0"/>
            <c:showVal val="1"/>
            <c:showCatName val="0"/>
            <c:showSerName val="0"/>
            <c:showPercent val="0"/>
            <c:showBubbleSize val="0"/>
            <c:showLeaderLines val="0"/>
          </c:dLbls>
          <c:dPt>
            <c:idx val="0"/>
            <c:invertIfNegative val="0"/>
            <c:bubble3D val="0"/>
            <c:spPr>
              <a:solidFill>
                <a:srgbClr val="2E5FA3"/>
              </a:solidFill>
              <a:effectLst/>
            </c:spPr>
          </c:dPt>
          <c:dPt>
            <c:idx val="1"/>
            <c:invertIfNegative val="0"/>
            <c:bubble3D val="0"/>
            <c:spPr>
              <a:solidFill>
                <a:srgbClr val="1FA5C8"/>
              </a:solidFill>
              <a:effectLst/>
            </c:spPr>
          </c:dPt>
          <c:dPt>
            <c:idx val="2"/>
            <c:invertIfNegative val="0"/>
            <c:bubble3D val="0"/>
            <c:spPr>
              <a:solidFill>
                <a:srgbClr val="C97A16"/>
              </a:solidFill>
              <a:effectLst/>
            </c:spPr>
          </c:dPt>
          <c:cat>
            <c:multiLvlStrRef>
              <c:f>Sheet1!$A$2:$A$4</c:f>
              <c:multiLvlStrCache>
                <c:ptCount val="3"/>
                <c:lvl>
                  <c:pt idx="0">
                    <c:v>EJ-200 (380 cm)</c:v>
                  </c:pt>
                  <c:pt idx="1">
                    <c:v>EJ-204 (160 cm)</c:v>
                  </c:pt>
                  <c:pt idx="2">
                    <c:v>EJ-230 (120 cm)</c:v>
                  </c:pt>
                </c:lvl>
              </c:multiLvlStrCache>
            </c:multiLvlStrRef>
          </c:cat>
          <c:val>
            <c:numRef>
              <c:f>Sheet1!$B$2:$B$4</c:f>
              <c:numCache>
                <c:formatCode>General</c:formatCode>
                <c:ptCount val="3"/>
                <c:pt idx="0">
                  <c:v>0.83</c:v>
                </c:pt>
                <c:pt idx="1">
                  <c:v>0.65</c:v>
                </c:pt>
                <c:pt idx="2">
                  <c:v>0.56</c:v>
                </c:pt>
              </c:numCache>
            </c:numRef>
          </c:val>
        </c:ser>
        <c:dLbls>
          <c:numFmt formatCode="0.00" sourceLinked="0"/>
          <c:txPr>
            <a:bodyPr/>
            <a:lstStyle/>
            <a:p>
              <a:pPr>
                <a:defRPr b="1" i="0" strike="noStrike" sz="1150" u="none">
                  <a:solidFill>
                    <a:srgbClr val="0E17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rectora: la simulacion no puede reemplazar el entendimiento.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barras. La resolucion por canal es la metrica relevante.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Knoll lista las tres suposiciones del Monte Carlo optico: superficies, absorcion,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MeV/cm fija escala. Geant4 aporta la distribucion Landau.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yield no discrimina: difiere 7%. Discriminan lambda_att y tau_d.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0.774 ES la Ec. 8.15 de Knoll para slab: la servilleta contiene al libro como caso limite y lo extiende a dos familias de paredes. Sobre el 80% del cilindro: NO afirmar que este mal, sino que define otra cantidad geometrica. Knoll ademas advierte que 8.14 cuenta solo rayos meridionales.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Importante: beta_eff es angulo EQUIVALENTE asociado a la pendiente de propagacion. No hemos demostrado una poblacion monoangular a 13.5 grados. Esto evita una pregunta incomoda de alguien de optica.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decir exacto: la geometria del triangulo lo es, el numero entero de impactos no. En 3D el angulo total respecto de x no es lo mismo que u_y y u_z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 horizontal va de 0 a 100 en pasos de 10, NO de 1 a 11. La linea de valores debajo del grafico lo hace explicito.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slides 7 y 9: la distancia optica real es d/|ux|, no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ACCION REQUERIDA: reemplazar los dos marcos punteados por las figuras reales Npe(x) y sigma(T0)(x) de las campanas EXEC, con sus sidecars .csv/.meta.json. Esta slide convierte la charla de derivacion analitica en validacion predictiva.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CORRECCION respecto de la version anterior: la fraccion TIR 0.548 cuenta ambas direcciones; con cobertura de UN extremo hay que usar 0.274. Asi el presupuesto da 1.1e3 PE (L+R) contra 1400 de Geant4, mejor acuerdo que antes. Confirmar en datasets.py si Npe=1400 es L+R o por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Reformulado: el cono de escape actua en la cara de lectura y por tanto afecta IGUAL a Vikuiti. No puede generar un cociente. La unica diferencia real entre configuraciones son las paredes laterales. Cociente predicho 1-3, no 6. Comparar SIEMPRE por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sigma_x no es informacion nueva: es sigma_dt propagada por veff.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cilindro pasa de 'figure suspect' a 'definicion distinta, verificar'. Mas seguro y cientificamente mas fuerte.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idea fisica central de toda la charla. Dos rayos, dos historias temporales. Frase de cierre: Npe total no es lo mismo que informacion temporal en los primeros fotones.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Tono: hipotesis falsable, no respuesta ya conocida. Knoll compara especular vs difuso en colecicion de luz, no en timing; nosotros optimizamos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familias, no nueve items. La banda de electronica conecta con la pregunta de diseno de la slide 2: si SPTR domina, conviene recortar canales antes que perseguir ps opticos.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A ahora incluye fijar la convencion por extremo vs L+R, que es lo que casi nos hace citar un cociente equivocado.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tres mensajes. La frase final resume la postura cautelosa por diseno.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822960" y="1600200"/>
            <a:ext cx="1051560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What should we expect</a:t>
            </a:r>
            <a:endParaRPr lang="en-US" sz="4600" dirty="0"/>
          </a:p>
        </p:txBody>
      </p:sp>
      <p:sp>
        <p:nvSpPr>
          <p:cNvPr id="3" name="Text 1"/>
          <p:cNvSpPr/>
          <p:nvPr/>
        </p:nvSpPr>
        <p:spPr>
          <a:xfrm>
            <a:off x="822960" y="2359152"/>
            <a:ext cx="10515600" cy="777240"/>
          </a:xfrm>
          <a:prstGeom prst="rect">
            <a:avLst/>
          </a:prstGeom>
          <a:noFill/>
          <a:ln/>
        </p:spPr>
        <p:txBody>
          <a:bodyPr wrap="square" lIns="0" tIns="0" rIns="0" bIns="0" rtlCol="0" anchor="ctr"/>
          <a:lstStyle/>
          <a:p>
            <a:pPr indent="0" marL="0">
              <a:buNone/>
            </a:pPr>
            <a:r>
              <a:rPr lang="en-US" sz="4600" b="1" dirty="0">
                <a:solidFill>
                  <a:srgbClr val="1FA5C8"/>
                </a:solidFill>
                <a:latin typeface="Cambria" pitchFamily="34" charset="0"/>
                <a:ea typeface="Cambria" pitchFamily="34" charset="-122"/>
                <a:cs typeface="Cambria" pitchFamily="34" charset="-120"/>
              </a:rPr>
              <a:t>before we simulate?</a:t>
            </a:r>
            <a:endParaRPr lang="en-US" sz="4600" dirty="0"/>
          </a:p>
        </p:txBody>
      </p:sp>
      <p:sp>
        <p:nvSpPr>
          <p:cNvPr id="4" name="Text 2"/>
          <p:cNvSpPr/>
          <p:nvPr/>
        </p:nvSpPr>
        <p:spPr>
          <a:xfrm>
            <a:off x="822960" y="3310128"/>
            <a:ext cx="8778240" cy="1097280"/>
          </a:xfrm>
          <a:prstGeom prst="rect">
            <a:avLst/>
          </a:prstGeom>
          <a:noFill/>
          <a:ln/>
        </p:spPr>
        <p:txBody>
          <a:bodyPr wrap="square" lIns="0" tIns="0" rIns="0" bIns="0" rtlCol="0" anchor="ctr"/>
          <a:lstStyle/>
          <a:p>
            <a:pPr indent="0" marL="0">
              <a:lnSpc>
                <a:spcPts val="2300"/>
              </a:lnSpc>
              <a:buNone/>
            </a:pPr>
            <a:r>
              <a:rPr lang="en-US" sz="1500" dirty="0">
                <a:solidFill>
                  <a:srgbClr val="C3CCDE"/>
                </a:solidFill>
                <a:latin typeface="Calibri" pitchFamily="34" charset="0"/>
                <a:ea typeface="Calibri" pitchFamily="34" charset="-122"/>
                <a:cs typeface="Calibri" pitchFamily="34" charset="-120"/>
              </a:rPr>
              <a:t>Order-of-magnitude physics of a 1.4 m plastic scintillator bar for the SHiP Timing Detector — energy deposition, total internal reflection, photon transport, reflector losses and timing observables, derived before any Geant4 output is shown.</a:t>
            </a:r>
            <a:endParaRPr lang="en-US" sz="1500" dirty="0"/>
          </a:p>
        </p:txBody>
      </p:sp>
      <p:sp>
        <p:nvSpPr>
          <p:cNvPr id="5" name="Text 3"/>
          <p:cNvSpPr/>
          <p:nvPr/>
        </p:nvSpPr>
        <p:spPr>
          <a:xfrm>
            <a:off x="822960" y="4892040"/>
            <a:ext cx="7315200" cy="731520"/>
          </a:xfrm>
          <a:prstGeom prst="rect">
            <a:avLst/>
          </a:prstGeom>
          <a:noFill/>
          <a:ln/>
        </p:spPr>
        <p:txBody>
          <a:bodyPr wrap="square" lIns="0" tIns="0" rIns="0" bIns="0" rtlCol="0" anchor="ctr"/>
          <a:lstStyle/>
          <a:p>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René Ríos</a:t>
            </a:r>
            <a:endParaRPr lang="en-US" sz="1300" dirty="0"/>
          </a:p>
          <a:p>
            <a:pPr indent="0" marL="0">
              <a:lnSpc>
                <a:spcPts val="2000"/>
              </a:lnSpc>
              <a:buNone/>
            </a:pPr>
            <a:r>
              <a:rPr lang="en-US" sz="1300" dirty="0">
                <a:solidFill>
                  <a:srgbClr val="8E9AB2"/>
                </a:solidFill>
                <a:latin typeface="Calibri" pitchFamily="34" charset="0"/>
                <a:ea typeface="Calibri" pitchFamily="34" charset="-122"/>
                <a:cs typeface="Calibri" pitchFamily="34" charset="-120"/>
              </a:rPr>
              <a:t>Universidad de La Serena  ·  SHiP Timing Detector  ·  August 2026</a:t>
            </a:r>
            <a:endParaRPr lang="en-US" sz="1300" dirty="0"/>
          </a:p>
        </p:txBody>
      </p:sp>
      <p:sp>
        <p:nvSpPr>
          <p:cNvPr id="6" name="Text 4"/>
          <p:cNvSpPr/>
          <p:nvPr/>
        </p:nvSpPr>
        <p:spPr>
          <a:xfrm>
            <a:off x="822960" y="5806440"/>
            <a:ext cx="5486400" cy="320040"/>
          </a:xfrm>
          <a:prstGeom prst="rect">
            <a:avLst/>
          </a:prstGeom>
          <a:noFill/>
          <a:ln/>
        </p:spPr>
        <p:txBody>
          <a:bodyPr wrap="square" lIns="0" tIns="0" rIns="0" bIns="0" rtlCol="0" anchor="ctr"/>
          <a:lstStyle/>
          <a:p>
            <a:pPr indent="0" marL="0">
              <a:buNone/>
            </a:pPr>
            <a:r>
              <a:rPr lang="en-US" sz="1500" i="1" dirty="0">
                <a:solidFill>
                  <a:srgbClr val="1FA5C8"/>
                </a:solidFill>
                <a:latin typeface="Cambria" pitchFamily="34" charset="0"/>
                <a:ea typeface="Cambria" pitchFamily="34" charset="-122"/>
                <a:cs typeface="Cambria" pitchFamily="34" charset="-120"/>
              </a:rPr>
              <a:t>Napkin first. Geant4 second.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THE OBJECT</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One bar is a cell of a 50 m² detector</a:t>
            </a:r>
            <a:endParaRPr lang="en-US" sz="2600" dirty="0"/>
          </a:p>
        </p:txBody>
      </p:sp>
      <p:sp>
        <p:nvSpPr>
          <p:cNvPr id="4" name="Shape 2"/>
          <p:cNvSpPr/>
          <p:nvPr/>
        </p:nvSpPr>
        <p:spPr>
          <a:xfrm>
            <a:off x="685800" y="1600200"/>
            <a:ext cx="10835640" cy="777240"/>
          </a:xfrm>
          <a:prstGeom prst="rect">
            <a:avLst/>
          </a:prstGeom>
          <a:solidFill>
            <a:srgbClr val="D9EEF6"/>
          </a:solidFill>
          <a:ln w="15875">
            <a:solidFill>
              <a:srgbClr val="1FA5C8"/>
            </a:solidFill>
            <a:prstDash val="solid"/>
          </a:ln>
        </p:spPr>
      </p:sp>
      <p:sp>
        <p:nvSpPr>
          <p:cNvPr id="5" name="Shape 3"/>
          <p:cNvSpPr/>
          <p:nvPr/>
        </p:nvSpPr>
        <p:spPr>
          <a:xfrm>
            <a:off x="539496" y="1645920"/>
            <a:ext cx="146304" cy="685800"/>
          </a:xfrm>
          <a:prstGeom prst="rect">
            <a:avLst/>
          </a:prstGeom>
          <a:solidFill>
            <a:srgbClr val="2E5FA3"/>
          </a:solidFill>
          <a:ln/>
        </p:spPr>
      </p:sp>
      <p:sp>
        <p:nvSpPr>
          <p:cNvPr id="6" name="Shape 4"/>
          <p:cNvSpPr/>
          <p:nvPr/>
        </p:nvSpPr>
        <p:spPr>
          <a:xfrm>
            <a:off x="11521440" y="1645920"/>
            <a:ext cx="146304" cy="685800"/>
          </a:xfrm>
          <a:prstGeom prst="rect">
            <a:avLst/>
          </a:prstGeom>
          <a:solidFill>
            <a:srgbClr val="2E5FA3"/>
          </a:solidFill>
          <a:ln/>
        </p:spPr>
      </p:sp>
      <p:sp>
        <p:nvSpPr>
          <p:cNvPr id="7" name="Shape 5"/>
          <p:cNvSpPr/>
          <p:nvPr/>
        </p:nvSpPr>
        <p:spPr>
          <a:xfrm>
            <a:off x="1005840" y="1444752"/>
            <a:ext cx="182880" cy="155448"/>
          </a:xfrm>
          <a:prstGeom prst="rect">
            <a:avLst/>
          </a:prstGeom>
          <a:solidFill>
            <a:srgbClr val="C97A16"/>
          </a:solidFill>
          <a:ln/>
        </p:spPr>
      </p:sp>
      <p:sp>
        <p:nvSpPr>
          <p:cNvPr id="8" name="Shape 6"/>
          <p:cNvSpPr/>
          <p:nvPr/>
        </p:nvSpPr>
        <p:spPr>
          <a:xfrm>
            <a:off x="1472184" y="1444752"/>
            <a:ext cx="182880" cy="155448"/>
          </a:xfrm>
          <a:prstGeom prst="rect">
            <a:avLst/>
          </a:prstGeom>
          <a:solidFill>
            <a:srgbClr val="C97A16"/>
          </a:solidFill>
          <a:ln/>
        </p:spPr>
      </p:sp>
      <p:sp>
        <p:nvSpPr>
          <p:cNvPr id="9" name="Shape 7"/>
          <p:cNvSpPr/>
          <p:nvPr/>
        </p:nvSpPr>
        <p:spPr>
          <a:xfrm>
            <a:off x="1938528" y="1444752"/>
            <a:ext cx="182880" cy="155448"/>
          </a:xfrm>
          <a:prstGeom prst="rect">
            <a:avLst/>
          </a:prstGeom>
          <a:solidFill>
            <a:srgbClr val="C97A16"/>
          </a:solidFill>
          <a:ln/>
        </p:spPr>
      </p:sp>
      <p:sp>
        <p:nvSpPr>
          <p:cNvPr id="10" name="Shape 8"/>
          <p:cNvSpPr/>
          <p:nvPr/>
        </p:nvSpPr>
        <p:spPr>
          <a:xfrm>
            <a:off x="2404872" y="1444752"/>
            <a:ext cx="182880" cy="155448"/>
          </a:xfrm>
          <a:prstGeom prst="rect">
            <a:avLst/>
          </a:prstGeom>
          <a:solidFill>
            <a:srgbClr val="C97A16"/>
          </a:solidFill>
          <a:ln/>
        </p:spPr>
      </p:sp>
      <p:sp>
        <p:nvSpPr>
          <p:cNvPr id="11" name="Shape 9"/>
          <p:cNvSpPr/>
          <p:nvPr/>
        </p:nvSpPr>
        <p:spPr>
          <a:xfrm>
            <a:off x="2871216" y="1444752"/>
            <a:ext cx="182880" cy="155448"/>
          </a:xfrm>
          <a:prstGeom prst="rect">
            <a:avLst/>
          </a:prstGeom>
          <a:solidFill>
            <a:srgbClr val="C97A16"/>
          </a:solidFill>
          <a:ln/>
        </p:spPr>
      </p:sp>
      <p:sp>
        <p:nvSpPr>
          <p:cNvPr id="12" name="Shape 10"/>
          <p:cNvSpPr/>
          <p:nvPr/>
        </p:nvSpPr>
        <p:spPr>
          <a:xfrm>
            <a:off x="3337560" y="1444752"/>
            <a:ext cx="182880" cy="155448"/>
          </a:xfrm>
          <a:prstGeom prst="rect">
            <a:avLst/>
          </a:prstGeom>
          <a:solidFill>
            <a:srgbClr val="C97A16"/>
          </a:solidFill>
          <a:ln/>
        </p:spPr>
      </p:sp>
      <p:sp>
        <p:nvSpPr>
          <p:cNvPr id="13" name="Shape 11"/>
          <p:cNvSpPr/>
          <p:nvPr/>
        </p:nvSpPr>
        <p:spPr>
          <a:xfrm>
            <a:off x="3803904" y="1444752"/>
            <a:ext cx="182880" cy="155448"/>
          </a:xfrm>
          <a:prstGeom prst="rect">
            <a:avLst/>
          </a:prstGeom>
          <a:solidFill>
            <a:srgbClr val="C97A16"/>
          </a:solidFill>
          <a:ln/>
        </p:spPr>
      </p:sp>
      <p:sp>
        <p:nvSpPr>
          <p:cNvPr id="14" name="Shape 12"/>
          <p:cNvSpPr/>
          <p:nvPr/>
        </p:nvSpPr>
        <p:spPr>
          <a:xfrm>
            <a:off x="4270248" y="1444752"/>
            <a:ext cx="182880" cy="155448"/>
          </a:xfrm>
          <a:prstGeom prst="rect">
            <a:avLst/>
          </a:prstGeom>
          <a:solidFill>
            <a:srgbClr val="C97A16"/>
          </a:solidFill>
          <a:ln/>
        </p:spPr>
      </p:sp>
      <p:sp>
        <p:nvSpPr>
          <p:cNvPr id="15" name="Shape 13"/>
          <p:cNvSpPr/>
          <p:nvPr/>
        </p:nvSpPr>
        <p:spPr>
          <a:xfrm>
            <a:off x="4736592" y="1444752"/>
            <a:ext cx="182880" cy="155448"/>
          </a:xfrm>
          <a:prstGeom prst="rect">
            <a:avLst/>
          </a:prstGeom>
          <a:solidFill>
            <a:srgbClr val="C97A16"/>
          </a:solidFill>
          <a:ln/>
        </p:spPr>
      </p:sp>
      <p:sp>
        <p:nvSpPr>
          <p:cNvPr id="16" name="Shape 14"/>
          <p:cNvSpPr/>
          <p:nvPr/>
        </p:nvSpPr>
        <p:spPr>
          <a:xfrm>
            <a:off x="5202936" y="1444752"/>
            <a:ext cx="182880" cy="155448"/>
          </a:xfrm>
          <a:prstGeom prst="rect">
            <a:avLst/>
          </a:prstGeom>
          <a:solidFill>
            <a:srgbClr val="C97A16"/>
          </a:solidFill>
          <a:ln/>
        </p:spPr>
      </p:sp>
      <p:sp>
        <p:nvSpPr>
          <p:cNvPr id="17" name="Shape 15"/>
          <p:cNvSpPr/>
          <p:nvPr/>
        </p:nvSpPr>
        <p:spPr>
          <a:xfrm>
            <a:off x="5669280" y="1444752"/>
            <a:ext cx="182880" cy="155448"/>
          </a:xfrm>
          <a:prstGeom prst="rect">
            <a:avLst/>
          </a:prstGeom>
          <a:solidFill>
            <a:srgbClr val="C97A16"/>
          </a:solidFill>
          <a:ln/>
        </p:spPr>
      </p:sp>
      <p:sp>
        <p:nvSpPr>
          <p:cNvPr id="18" name="Shape 16"/>
          <p:cNvSpPr/>
          <p:nvPr/>
        </p:nvSpPr>
        <p:spPr>
          <a:xfrm>
            <a:off x="6135624" y="1444752"/>
            <a:ext cx="182880" cy="155448"/>
          </a:xfrm>
          <a:prstGeom prst="rect">
            <a:avLst/>
          </a:prstGeom>
          <a:solidFill>
            <a:srgbClr val="C97A16"/>
          </a:solidFill>
          <a:ln/>
        </p:spPr>
      </p:sp>
      <p:sp>
        <p:nvSpPr>
          <p:cNvPr id="19" name="Shape 17"/>
          <p:cNvSpPr/>
          <p:nvPr/>
        </p:nvSpPr>
        <p:spPr>
          <a:xfrm>
            <a:off x="6601968" y="1444752"/>
            <a:ext cx="182880" cy="155448"/>
          </a:xfrm>
          <a:prstGeom prst="rect">
            <a:avLst/>
          </a:prstGeom>
          <a:solidFill>
            <a:srgbClr val="C97A16"/>
          </a:solidFill>
          <a:ln/>
        </p:spPr>
      </p:sp>
      <p:sp>
        <p:nvSpPr>
          <p:cNvPr id="20" name="Shape 18"/>
          <p:cNvSpPr/>
          <p:nvPr/>
        </p:nvSpPr>
        <p:spPr>
          <a:xfrm>
            <a:off x="7068312" y="1444752"/>
            <a:ext cx="182880" cy="155448"/>
          </a:xfrm>
          <a:prstGeom prst="rect">
            <a:avLst/>
          </a:prstGeom>
          <a:solidFill>
            <a:srgbClr val="C97A16"/>
          </a:solidFill>
          <a:ln/>
        </p:spPr>
      </p:sp>
      <p:sp>
        <p:nvSpPr>
          <p:cNvPr id="21" name="Shape 19"/>
          <p:cNvSpPr/>
          <p:nvPr/>
        </p:nvSpPr>
        <p:spPr>
          <a:xfrm>
            <a:off x="7534656" y="1444752"/>
            <a:ext cx="182880" cy="155448"/>
          </a:xfrm>
          <a:prstGeom prst="rect">
            <a:avLst/>
          </a:prstGeom>
          <a:solidFill>
            <a:srgbClr val="C97A16"/>
          </a:solidFill>
          <a:ln/>
        </p:spPr>
      </p:sp>
      <p:sp>
        <p:nvSpPr>
          <p:cNvPr id="22" name="Shape 20"/>
          <p:cNvSpPr/>
          <p:nvPr/>
        </p:nvSpPr>
        <p:spPr>
          <a:xfrm>
            <a:off x="8001000" y="1444752"/>
            <a:ext cx="182880" cy="155448"/>
          </a:xfrm>
          <a:prstGeom prst="rect">
            <a:avLst/>
          </a:prstGeom>
          <a:solidFill>
            <a:srgbClr val="C97A16"/>
          </a:solidFill>
          <a:ln/>
        </p:spPr>
      </p:sp>
      <p:sp>
        <p:nvSpPr>
          <p:cNvPr id="23" name="Shape 21"/>
          <p:cNvSpPr/>
          <p:nvPr/>
        </p:nvSpPr>
        <p:spPr>
          <a:xfrm>
            <a:off x="8467344" y="1444752"/>
            <a:ext cx="182880" cy="155448"/>
          </a:xfrm>
          <a:prstGeom prst="rect">
            <a:avLst/>
          </a:prstGeom>
          <a:solidFill>
            <a:srgbClr val="C97A16"/>
          </a:solidFill>
          <a:ln/>
        </p:spPr>
      </p:sp>
      <p:sp>
        <p:nvSpPr>
          <p:cNvPr id="24" name="Shape 22"/>
          <p:cNvSpPr/>
          <p:nvPr/>
        </p:nvSpPr>
        <p:spPr>
          <a:xfrm>
            <a:off x="8933688" y="1444752"/>
            <a:ext cx="182880" cy="155448"/>
          </a:xfrm>
          <a:prstGeom prst="rect">
            <a:avLst/>
          </a:prstGeom>
          <a:solidFill>
            <a:srgbClr val="C97A16"/>
          </a:solidFill>
          <a:ln/>
        </p:spPr>
      </p:sp>
      <p:sp>
        <p:nvSpPr>
          <p:cNvPr id="25" name="Shape 23"/>
          <p:cNvSpPr/>
          <p:nvPr/>
        </p:nvSpPr>
        <p:spPr>
          <a:xfrm>
            <a:off x="9400032" y="1444752"/>
            <a:ext cx="182880" cy="155448"/>
          </a:xfrm>
          <a:prstGeom prst="rect">
            <a:avLst/>
          </a:prstGeom>
          <a:solidFill>
            <a:srgbClr val="C97A16"/>
          </a:solidFill>
          <a:ln/>
        </p:spPr>
      </p:sp>
      <p:sp>
        <p:nvSpPr>
          <p:cNvPr id="26" name="Shape 24"/>
          <p:cNvSpPr/>
          <p:nvPr/>
        </p:nvSpPr>
        <p:spPr>
          <a:xfrm>
            <a:off x="9866376" y="1444752"/>
            <a:ext cx="182880" cy="155448"/>
          </a:xfrm>
          <a:prstGeom prst="rect">
            <a:avLst/>
          </a:prstGeom>
          <a:solidFill>
            <a:srgbClr val="C97A16"/>
          </a:solidFill>
          <a:ln/>
        </p:spPr>
      </p:sp>
      <p:sp>
        <p:nvSpPr>
          <p:cNvPr id="27" name="Shape 25"/>
          <p:cNvSpPr/>
          <p:nvPr/>
        </p:nvSpPr>
        <p:spPr>
          <a:xfrm>
            <a:off x="10332720" y="1444752"/>
            <a:ext cx="182880" cy="155448"/>
          </a:xfrm>
          <a:prstGeom prst="rect">
            <a:avLst/>
          </a:prstGeom>
          <a:solidFill>
            <a:srgbClr val="C97A16"/>
          </a:solidFill>
          <a:ln/>
        </p:spPr>
      </p:sp>
      <p:sp>
        <p:nvSpPr>
          <p:cNvPr id="28" name="Shape 26"/>
          <p:cNvSpPr/>
          <p:nvPr/>
        </p:nvSpPr>
        <p:spPr>
          <a:xfrm>
            <a:off x="10799064" y="1444752"/>
            <a:ext cx="182880" cy="155448"/>
          </a:xfrm>
          <a:prstGeom prst="rect">
            <a:avLst/>
          </a:prstGeom>
          <a:solidFill>
            <a:srgbClr val="C97A16"/>
          </a:solidFill>
          <a:ln/>
        </p:spPr>
      </p:sp>
      <p:sp>
        <p:nvSpPr>
          <p:cNvPr id="29" name="Text 27"/>
          <p:cNvSpPr/>
          <p:nvPr/>
        </p:nvSpPr>
        <p:spPr>
          <a:xfrm>
            <a:off x="685800" y="1097280"/>
            <a:ext cx="5486400" cy="256032"/>
          </a:xfrm>
          <a:prstGeom prst="rect">
            <a:avLst/>
          </a:prstGeom>
          <a:noFill/>
          <a:ln/>
        </p:spPr>
        <p:txBody>
          <a:bodyPr wrap="square" lIns="0" tIns="0" rIns="0" bIns="0" rtlCol="0" anchor="ctr"/>
          <a:lstStyle/>
          <a:p>
            <a:pPr indent="0" marL="0">
              <a:buNone/>
            </a:pPr>
            <a:r>
              <a:rPr lang="en-US" sz="1100" b="1" dirty="0">
                <a:solidFill>
                  <a:srgbClr val="C97A16"/>
                </a:solidFill>
                <a:latin typeface="Calibri" pitchFamily="34" charset="0"/>
                <a:ea typeface="Calibri" pitchFamily="34" charset="-122"/>
                <a:cs typeface="Calibri" pitchFamily="34" charset="-120"/>
              </a:rPr>
              <a:t>TOP  ·  up to 70 SiPM along the bar</a:t>
            </a:r>
            <a:endParaRPr lang="en-US" sz="1100" dirty="0"/>
          </a:p>
        </p:txBody>
      </p:sp>
      <p:sp>
        <p:nvSpPr>
          <p:cNvPr id="30" name="Text 28"/>
          <p:cNvSpPr/>
          <p:nvPr/>
        </p:nvSpPr>
        <p:spPr>
          <a:xfrm>
            <a:off x="502920" y="2487168"/>
            <a:ext cx="3657600" cy="256032"/>
          </a:xfrm>
          <a:prstGeom prst="rect">
            <a:avLst/>
          </a:prstGeom>
          <a:noFill/>
          <a:ln/>
        </p:spPr>
        <p:txBody>
          <a:bodyPr wrap="square" lIns="0" tIns="0" rIns="0" bIns="0" rtlCol="0" anchor="ctr"/>
          <a:lstStyle/>
          <a:p>
            <a:pPr indent="0" marL="0">
              <a:buNone/>
            </a:pPr>
            <a:r>
              <a:rPr lang="en-US" sz="1100" b="1" dirty="0">
                <a:solidFill>
                  <a:srgbClr val="2E5FA3"/>
                </a:solidFill>
                <a:latin typeface="Calibri" pitchFamily="34" charset="0"/>
                <a:ea typeface="Calibri" pitchFamily="34" charset="-122"/>
                <a:cs typeface="Calibri" pitchFamily="34" charset="-120"/>
              </a:rPr>
              <a:t>END  ·  8 SiPM per face</a:t>
            </a:r>
            <a:endParaRPr lang="en-US" sz="1100" dirty="0"/>
          </a:p>
        </p:txBody>
      </p:sp>
      <p:sp>
        <p:nvSpPr>
          <p:cNvPr id="31" name="Text 29"/>
          <p:cNvSpPr/>
          <p:nvPr/>
        </p:nvSpPr>
        <p:spPr>
          <a:xfrm>
            <a:off x="7680960" y="2487168"/>
            <a:ext cx="3840480" cy="256032"/>
          </a:xfrm>
          <a:prstGeom prst="rect">
            <a:avLst/>
          </a:prstGeom>
          <a:noFill/>
          <a:ln/>
        </p:spPr>
        <p:txBody>
          <a:bodyPr wrap="square" lIns="0" tIns="0" rIns="0" bIns="0" rtlCol="0" anchor="ctr"/>
          <a:lstStyle/>
          <a:p>
            <a:pPr algn="r" indent="0" marL="0">
              <a:buNone/>
            </a:pPr>
            <a:r>
              <a:rPr lang="en-US" sz="1100" b="1" dirty="0">
                <a:solidFill>
                  <a:srgbClr val="5A6478"/>
                </a:solidFill>
                <a:latin typeface="Calibri" pitchFamily="34" charset="0"/>
                <a:ea typeface="Calibri" pitchFamily="34" charset="-122"/>
                <a:cs typeface="Calibri" pitchFamily="34" charset="-120"/>
              </a:rPr>
              <a:t>1400 mm  ×  60 mm  ×  10 mm</a:t>
            </a:r>
            <a:endParaRPr lang="en-US" sz="1100" dirty="0"/>
          </a:p>
        </p:txBody>
      </p:sp>
      <p:sp>
        <p:nvSpPr>
          <p:cNvPr id="32" name="Text 30"/>
          <p:cNvSpPr/>
          <p:nvPr/>
        </p:nvSpPr>
        <p:spPr>
          <a:xfrm>
            <a:off x="685800" y="2788920"/>
            <a:ext cx="2560320" cy="658368"/>
          </a:xfrm>
          <a:prstGeom prst="rect">
            <a:avLst/>
          </a:prstGeom>
          <a:noFill/>
          <a:ln/>
        </p:spPr>
        <p:txBody>
          <a:bodyPr wrap="square" lIns="0" tIns="0" rIns="0" bIns="0" rtlCol="0" anchor="ctr"/>
          <a:lstStyle/>
          <a:p>
            <a:pPr algn="l" indent="0" marL="0">
              <a:buNone/>
            </a:pPr>
            <a:r>
              <a:rPr lang="en-US" sz="3800" b="1" dirty="0">
                <a:solidFill>
                  <a:srgbClr val="2E5FA3"/>
                </a:solidFill>
                <a:latin typeface="Cambria" pitchFamily="34" charset="0"/>
                <a:ea typeface="Cambria" pitchFamily="34" charset="-122"/>
                <a:cs typeface="Cambria" pitchFamily="34" charset="-120"/>
              </a:rPr>
              <a:t>0.084 m²</a:t>
            </a:r>
            <a:endParaRPr lang="en-US" sz="3800" dirty="0"/>
          </a:p>
        </p:txBody>
      </p:sp>
      <p:sp>
        <p:nvSpPr>
          <p:cNvPr id="33" name="Text 31"/>
          <p:cNvSpPr/>
          <p:nvPr/>
        </p:nvSpPr>
        <p:spPr>
          <a:xfrm>
            <a:off x="685800" y="3410712"/>
            <a:ext cx="2560320" cy="457200"/>
          </a:xfrm>
          <a:prstGeom prst="rect">
            <a:avLst/>
          </a:prstGeom>
          <a:noFill/>
          <a:ln/>
        </p:spPr>
        <p:txBody>
          <a:bodyPr wrap="square" lIns="0" tIns="0" rIns="0" bIns="0" rtlCol="0" anchor="ctr"/>
          <a:lstStyle/>
          <a:p>
            <a:pPr algn="l" indent="0" marL="0">
              <a:buNone/>
            </a:pPr>
            <a:r>
              <a:rPr lang="en-US" sz="1150" dirty="0">
                <a:solidFill>
                  <a:srgbClr val="5A6478"/>
                </a:solidFill>
                <a:latin typeface="Calibri" pitchFamily="34" charset="0"/>
                <a:ea typeface="Calibri" pitchFamily="34" charset="-122"/>
                <a:cs typeface="Calibri" pitchFamily="34" charset="-120"/>
              </a:rPr>
              <a:t>geometric area of one bar</a:t>
            </a:r>
            <a:endParaRPr lang="en-US" sz="1150" dirty="0"/>
          </a:p>
        </p:txBody>
      </p:sp>
      <p:sp>
        <p:nvSpPr>
          <p:cNvPr id="34" name="Text 32"/>
          <p:cNvSpPr/>
          <p:nvPr/>
        </p:nvSpPr>
        <p:spPr>
          <a:xfrm>
            <a:off x="3520440" y="2788920"/>
            <a:ext cx="2560320" cy="658368"/>
          </a:xfrm>
          <a:prstGeom prst="rect">
            <a:avLst/>
          </a:prstGeom>
          <a:noFill/>
          <a:ln/>
        </p:spPr>
        <p:txBody>
          <a:bodyPr wrap="square" lIns="0" tIns="0" rIns="0" bIns="0" rtlCol="0" anchor="ctr"/>
          <a:lstStyle/>
          <a:p>
            <a:pPr algn="l" indent="0" marL="0">
              <a:buNone/>
            </a:pPr>
            <a:r>
              <a:rPr lang="en-US" sz="3800" b="1" dirty="0">
                <a:solidFill>
                  <a:srgbClr val="2E5FA3"/>
                </a:solidFill>
                <a:latin typeface="Cambria" pitchFamily="34" charset="0"/>
                <a:ea typeface="Cambria" pitchFamily="34" charset="-122"/>
                <a:cs typeface="Cambria" pitchFamily="34" charset="-120"/>
              </a:rPr>
              <a:t>~600</a:t>
            </a:r>
            <a:endParaRPr lang="en-US" sz="3800" dirty="0"/>
          </a:p>
        </p:txBody>
      </p:sp>
      <p:sp>
        <p:nvSpPr>
          <p:cNvPr id="35" name="Text 33"/>
          <p:cNvSpPr/>
          <p:nvPr/>
        </p:nvSpPr>
        <p:spPr>
          <a:xfrm>
            <a:off x="3520440" y="3410712"/>
            <a:ext cx="2560320" cy="457200"/>
          </a:xfrm>
          <a:prstGeom prst="rect">
            <a:avLst/>
          </a:prstGeom>
          <a:noFill/>
          <a:ln/>
        </p:spPr>
        <p:txBody>
          <a:bodyPr wrap="square" lIns="0" tIns="0" rIns="0" bIns="0" rtlCol="0" anchor="ctr"/>
          <a:lstStyle/>
          <a:p>
            <a:pPr algn="l" indent="0" marL="0">
              <a:buNone/>
            </a:pPr>
            <a:r>
              <a:rPr lang="en-US" sz="1150" dirty="0">
                <a:solidFill>
                  <a:srgbClr val="5A6478"/>
                </a:solidFill>
                <a:latin typeface="Calibri" pitchFamily="34" charset="0"/>
                <a:ea typeface="Calibri" pitchFamily="34" charset="-122"/>
                <a:cs typeface="Calibri" pitchFamily="34" charset="-120"/>
              </a:rPr>
              <a:t>bars needed for a 50 m² detector</a:t>
            </a:r>
            <a:endParaRPr lang="en-US" sz="1150" dirty="0"/>
          </a:p>
        </p:txBody>
      </p:sp>
      <p:sp>
        <p:nvSpPr>
          <p:cNvPr id="36" name="Text 34"/>
          <p:cNvSpPr/>
          <p:nvPr/>
        </p:nvSpPr>
        <p:spPr>
          <a:xfrm>
            <a:off x="6355080" y="2788920"/>
            <a:ext cx="2743200" cy="658368"/>
          </a:xfrm>
          <a:prstGeom prst="rect">
            <a:avLst/>
          </a:prstGeom>
          <a:noFill/>
          <a:ln/>
        </p:spPr>
        <p:txBody>
          <a:bodyPr wrap="square" lIns="0" tIns="0" rIns="0" bIns="0" rtlCol="0" anchor="ctr"/>
          <a:lstStyle/>
          <a:p>
            <a:pPr algn="l" indent="0" marL="0">
              <a:buNone/>
            </a:pPr>
            <a:r>
              <a:rPr lang="en-US" sz="3800" b="1" dirty="0">
                <a:solidFill>
                  <a:srgbClr val="C97A16"/>
                </a:solidFill>
                <a:latin typeface="Cambria" pitchFamily="34" charset="0"/>
                <a:ea typeface="Cambria" pitchFamily="34" charset="-122"/>
                <a:cs typeface="Cambria" pitchFamily="34" charset="-120"/>
              </a:rPr>
              <a:t>9.6k – 50k+</a:t>
            </a:r>
            <a:endParaRPr lang="en-US" sz="3800" dirty="0"/>
          </a:p>
        </p:txBody>
      </p:sp>
      <p:sp>
        <p:nvSpPr>
          <p:cNvPr id="37" name="Text 35"/>
          <p:cNvSpPr/>
          <p:nvPr/>
        </p:nvSpPr>
        <p:spPr>
          <a:xfrm>
            <a:off x="6355080" y="3410712"/>
            <a:ext cx="2743200" cy="457200"/>
          </a:xfrm>
          <a:prstGeom prst="rect">
            <a:avLst/>
          </a:prstGeom>
          <a:noFill/>
          <a:ln/>
        </p:spPr>
        <p:txBody>
          <a:bodyPr wrap="square" lIns="0" tIns="0" rIns="0" bIns="0" rtlCol="0" anchor="ctr"/>
          <a:lstStyle/>
          <a:p>
            <a:pPr algn="l" indent="0" marL="0">
              <a:buNone/>
            </a:pPr>
            <a:r>
              <a:rPr lang="en-US" sz="1150" dirty="0">
                <a:solidFill>
                  <a:srgbClr val="5A6478"/>
                </a:solidFill>
                <a:latin typeface="Calibri" pitchFamily="34" charset="0"/>
                <a:ea typeface="Calibri" pitchFamily="34" charset="-122"/>
                <a:cs typeface="Calibri" pitchFamily="34" charset="-120"/>
              </a:rPr>
              <a:t>SiPM in total, for 16 / 70 / 86 per bar</a:t>
            </a:r>
            <a:endParaRPr lang="en-US" sz="1150" dirty="0"/>
          </a:p>
        </p:txBody>
      </p:sp>
      <p:sp>
        <p:nvSpPr>
          <p:cNvPr id="38" name="Shape 36"/>
          <p:cNvSpPr/>
          <p:nvPr/>
        </p:nvSpPr>
        <p:spPr>
          <a:xfrm>
            <a:off x="685800" y="3977640"/>
            <a:ext cx="5257800" cy="2148840"/>
          </a:xfrm>
          <a:prstGeom prst="roundRect">
            <a:avLst>
              <a:gd name="adj" fmla="val 2128"/>
            </a:avLst>
          </a:prstGeom>
          <a:solidFill>
            <a:srgbClr val="E9F2FA"/>
          </a:solidFill>
          <a:ln/>
        </p:spPr>
      </p:sp>
      <p:sp>
        <p:nvSpPr>
          <p:cNvPr id="39" name="Text 37"/>
          <p:cNvSpPr/>
          <p:nvPr/>
        </p:nvSpPr>
        <p:spPr>
          <a:xfrm>
            <a:off x="941832" y="4142232"/>
            <a:ext cx="4745736" cy="237744"/>
          </a:xfrm>
          <a:prstGeom prst="rect">
            <a:avLst/>
          </a:prstGeom>
          <a:noFill/>
          <a:ln/>
        </p:spPr>
        <p:txBody>
          <a:bodyPr wrap="square" lIns="0" tIns="0" rIns="0" bIns="0" rtlCol="0" anchor="ctr"/>
          <a:lstStyle/>
          <a:p>
            <a:pPr indent="0" marL="0">
              <a:buNone/>
            </a:pPr>
            <a:r>
              <a:rPr lang="en-US" sz="1050" b="1" spc="130" kern="0" dirty="0">
                <a:solidFill>
                  <a:srgbClr val="2E5FA3"/>
                </a:solidFill>
                <a:latin typeface="Calibri" pitchFamily="34" charset="0"/>
                <a:ea typeface="Calibri" pitchFamily="34" charset="-122"/>
                <a:cs typeface="Calibri" pitchFamily="34" charset="-120"/>
              </a:rPr>
              <a:t>DESIGN QUESTION</a:t>
            </a:r>
            <a:endParaRPr lang="en-US" sz="1050" dirty="0"/>
          </a:p>
        </p:txBody>
      </p:sp>
      <p:sp>
        <p:nvSpPr>
          <p:cNvPr id="40" name="Text 38"/>
          <p:cNvSpPr/>
          <p:nvPr/>
        </p:nvSpPr>
        <p:spPr>
          <a:xfrm>
            <a:off x="941832" y="4434840"/>
            <a:ext cx="4745736" cy="1508760"/>
          </a:xfrm>
          <a:prstGeom prst="rect">
            <a:avLst/>
          </a:prstGeom>
          <a:noFill/>
          <a:ln/>
        </p:spPr>
        <p:txBody>
          <a:bodyPr wrap="square" lIns="0" tIns="0" rIns="0" bIns="0" rtlCol="0" anchor="t"/>
          <a:lstStyle/>
          <a:p>
            <a:pPr indent="0" marL="0">
              <a:lnSpc>
                <a:spcPts val="2000"/>
              </a:lnSpc>
              <a:buNone/>
            </a:pPr>
            <a:r>
              <a:rPr lang="en-US" sz="1500" dirty="0">
                <a:solidFill>
                  <a:srgbClr val="0E1730"/>
                </a:solidFill>
                <a:latin typeface="Calibri" pitchFamily="34" charset="0"/>
                <a:ea typeface="Calibri" pitchFamily="34" charset="-122"/>
                <a:cs typeface="Calibri" pitchFamily="34" charset="-120"/>
              </a:rPr>
              <a:t>Which combination of optical transport, SiPM number and position, and time estimator gives the best resolution per readout channel — knowing that every bar is one small cell of an almost 50 m² surface?</a:t>
            </a:r>
            <a:endParaRPr lang="en-US" sz="1500" dirty="0"/>
          </a:p>
        </p:txBody>
      </p:sp>
      <p:sp>
        <p:nvSpPr>
          <p:cNvPr id="41" name="Shape 39"/>
          <p:cNvSpPr/>
          <p:nvPr/>
        </p:nvSpPr>
        <p:spPr>
          <a:xfrm>
            <a:off x="6263640" y="3977640"/>
            <a:ext cx="5257800" cy="2148840"/>
          </a:xfrm>
          <a:prstGeom prst="roundRect">
            <a:avLst>
              <a:gd name="adj" fmla="val 2128"/>
            </a:avLst>
          </a:prstGeom>
          <a:solidFill>
            <a:srgbClr val="FBF0DE"/>
          </a:solidFill>
          <a:ln/>
        </p:spPr>
      </p:sp>
      <p:sp>
        <p:nvSpPr>
          <p:cNvPr id="42" name="Text 40"/>
          <p:cNvSpPr/>
          <p:nvPr/>
        </p:nvSpPr>
        <p:spPr>
          <a:xfrm>
            <a:off x="6519672" y="4142232"/>
            <a:ext cx="4745736"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BEST TESTED SO FAR — NOT A PROVEN OPTIMUM</a:t>
            </a:r>
            <a:endParaRPr lang="en-US" sz="1050" dirty="0"/>
          </a:p>
        </p:txBody>
      </p:sp>
      <p:sp>
        <p:nvSpPr>
          <p:cNvPr id="43" name="Text 41"/>
          <p:cNvSpPr/>
          <p:nvPr/>
        </p:nvSpPr>
        <p:spPr>
          <a:xfrm>
            <a:off x="6519672" y="4434840"/>
            <a:ext cx="4745736" cy="150876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EJ-230 + END + Vikuiti with air gap:</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σ(T0) ≈ 58.6 ps,  σx ≈ 10.3 mm,  veff ≈ 184.6 mm/ns,  Npe ≈ 1400 at the centre (no electronic jitter).</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A small loss in resolution against a large reduction in channels may be globally preferable.</a:t>
            </a:r>
            <a:endParaRPr lang="en-US" sz="1400" dirty="0"/>
          </a:p>
        </p:txBody>
      </p:sp>
      <p:sp>
        <p:nvSpPr>
          <p:cNvPr id="44" name="Text 42"/>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45" name="Text 43"/>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777240" y="868680"/>
            <a:ext cx="10607040" cy="82296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The simulation must not cover our understanding</a:t>
            </a:r>
            <a:endParaRPr lang="en-US" sz="3300" dirty="0"/>
          </a:p>
        </p:txBody>
      </p:sp>
      <p:sp>
        <p:nvSpPr>
          <p:cNvPr id="3" name="Text 1"/>
          <p:cNvSpPr/>
          <p:nvPr/>
        </p:nvSpPr>
        <p:spPr>
          <a:xfrm>
            <a:off x="777240" y="1691640"/>
            <a:ext cx="10058400" cy="457200"/>
          </a:xfrm>
          <a:prstGeom prst="rect">
            <a:avLst/>
          </a:prstGeom>
          <a:noFill/>
          <a:ln/>
        </p:spPr>
        <p:txBody>
          <a:bodyPr wrap="square" lIns="0" tIns="0" rIns="0" bIns="0" rtlCol="0" anchor="ctr"/>
          <a:lstStyle/>
          <a:p>
            <a:pPr indent="0" marL="0">
              <a:buNone/>
            </a:pPr>
            <a:r>
              <a:rPr lang="en-US" sz="1600" dirty="0">
                <a:solidFill>
                  <a:srgbClr val="AEBACE"/>
                </a:solidFill>
                <a:latin typeface="Calibri" pitchFamily="34" charset="0"/>
                <a:ea typeface="Calibri" pitchFamily="34" charset="-122"/>
                <a:cs typeface="Calibri" pitchFamily="34" charset="-120"/>
              </a:rPr>
              <a:t>Geant4 returns a number. Only a prior analytic estimate tells us whether that number is physics or a bug.</a:t>
            </a:r>
            <a:endParaRPr lang="en-US" sz="1600" dirty="0"/>
          </a:p>
        </p:txBody>
      </p:sp>
      <p:sp>
        <p:nvSpPr>
          <p:cNvPr id="4" name="Shape 2"/>
          <p:cNvSpPr/>
          <p:nvPr/>
        </p:nvSpPr>
        <p:spPr>
          <a:xfrm>
            <a:off x="777240" y="2423160"/>
            <a:ext cx="5120640" cy="2194560"/>
          </a:xfrm>
          <a:prstGeom prst="roundRect">
            <a:avLst>
              <a:gd name="adj" fmla="val 2083"/>
            </a:avLst>
          </a:prstGeom>
          <a:solidFill>
            <a:srgbClr val="1B2848"/>
          </a:solidFill>
          <a:ln/>
        </p:spPr>
      </p:sp>
      <p:sp>
        <p:nvSpPr>
          <p:cNvPr id="5" name="Text 3"/>
          <p:cNvSpPr/>
          <p:nvPr/>
        </p:nvSpPr>
        <p:spPr>
          <a:xfrm>
            <a:off x="1051560" y="2633472"/>
            <a:ext cx="4572000" cy="274320"/>
          </a:xfrm>
          <a:prstGeom prst="rect">
            <a:avLst/>
          </a:prstGeom>
          <a:noFill/>
          <a:ln/>
        </p:spPr>
        <p:txBody>
          <a:bodyPr wrap="square" lIns="0" tIns="0" rIns="0" bIns="0" rtlCol="0" anchor="ctr"/>
          <a:lstStyle/>
          <a:p>
            <a:pPr indent="0" marL="0">
              <a:buNone/>
            </a:pPr>
            <a:r>
              <a:rPr lang="en-US" sz="1150" b="1" spc="130" kern="0" dirty="0">
                <a:solidFill>
                  <a:srgbClr val="1FA5C8"/>
                </a:solidFill>
                <a:latin typeface="Calibri" pitchFamily="34" charset="0"/>
                <a:ea typeface="Calibri" pitchFamily="34" charset="-122"/>
                <a:cs typeface="Calibri" pitchFamily="34" charset="-120"/>
              </a:rPr>
              <a:t>1 — NAPKIN</a:t>
            </a:r>
            <a:endParaRPr lang="en-US" sz="1150" dirty="0"/>
          </a:p>
        </p:txBody>
      </p:sp>
      <p:sp>
        <p:nvSpPr>
          <p:cNvPr id="6" name="Text 4"/>
          <p:cNvSpPr/>
          <p:nvPr/>
        </p:nvSpPr>
        <p:spPr>
          <a:xfrm>
            <a:off x="1051560" y="2971800"/>
            <a:ext cx="4572000" cy="1508760"/>
          </a:xfrm>
          <a:prstGeom prst="rect">
            <a:avLst/>
          </a:prstGeom>
          <a:noFill/>
          <a:ln/>
        </p:spPr>
        <p:txBody>
          <a:bodyPr wrap="square" lIns="0" tIns="0" rIns="0" bIns="0" rtlCol="0" anchor="t"/>
          <a:lstStyle/>
          <a:p>
            <a:pPr indent="0" marL="0">
              <a:lnSpc>
                <a:spcPts val="2000"/>
              </a:lnSpc>
              <a:buNone/>
            </a:pPr>
            <a:r>
              <a:rPr lang="en-US" sz="1350" dirty="0">
                <a:solidFill>
                  <a:srgbClr val="D5DDEA"/>
                </a:solidFill>
                <a:latin typeface="Calibri" pitchFamily="34" charset="0"/>
                <a:ea typeface="Calibri" pitchFamily="34" charset="-122"/>
                <a:cs typeface="Calibri" pitchFamily="34" charset="-120"/>
              </a:rPr>
              <a:t>Snell, geometry, exponential attenuation and order statistics fix the order of magnitude and, more importantly, the direction of every trend: which material gives more light, which gives better timing, which face imposes more bounces.</a:t>
            </a:r>
            <a:endParaRPr lang="en-US" sz="1350" dirty="0"/>
          </a:p>
        </p:txBody>
      </p:sp>
      <p:sp>
        <p:nvSpPr>
          <p:cNvPr id="7" name="Shape 5"/>
          <p:cNvSpPr/>
          <p:nvPr/>
        </p:nvSpPr>
        <p:spPr>
          <a:xfrm>
            <a:off x="6309360" y="2423160"/>
            <a:ext cx="5120640" cy="2194560"/>
          </a:xfrm>
          <a:prstGeom prst="roundRect">
            <a:avLst>
              <a:gd name="adj" fmla="val 2083"/>
            </a:avLst>
          </a:prstGeom>
          <a:solidFill>
            <a:srgbClr val="1B2848"/>
          </a:solidFill>
          <a:ln/>
        </p:spPr>
      </p:sp>
      <p:sp>
        <p:nvSpPr>
          <p:cNvPr id="8" name="Text 6"/>
          <p:cNvSpPr/>
          <p:nvPr/>
        </p:nvSpPr>
        <p:spPr>
          <a:xfrm>
            <a:off x="6583680" y="2633472"/>
            <a:ext cx="4572000" cy="274320"/>
          </a:xfrm>
          <a:prstGeom prst="rect">
            <a:avLst/>
          </a:prstGeom>
          <a:noFill/>
          <a:ln/>
        </p:spPr>
        <p:txBody>
          <a:bodyPr wrap="square" lIns="0" tIns="0" rIns="0" bIns="0" rtlCol="0" anchor="ctr"/>
          <a:lstStyle/>
          <a:p>
            <a:pPr indent="0" marL="0">
              <a:buNone/>
            </a:pPr>
            <a:r>
              <a:rPr lang="en-US" sz="1150" b="1" spc="130" kern="0" dirty="0">
                <a:solidFill>
                  <a:srgbClr val="C97A16"/>
                </a:solidFill>
                <a:latin typeface="Calibri" pitchFamily="34" charset="0"/>
                <a:ea typeface="Calibri" pitchFamily="34" charset="-122"/>
                <a:cs typeface="Calibri" pitchFamily="34" charset="-120"/>
              </a:rPr>
              <a:t>2 — GEANT4</a:t>
            </a:r>
            <a:endParaRPr lang="en-US" sz="1150" dirty="0"/>
          </a:p>
        </p:txBody>
      </p:sp>
      <p:sp>
        <p:nvSpPr>
          <p:cNvPr id="9" name="Text 7"/>
          <p:cNvSpPr/>
          <p:nvPr/>
        </p:nvSpPr>
        <p:spPr>
          <a:xfrm>
            <a:off x="6583680" y="2971800"/>
            <a:ext cx="4572000" cy="1508760"/>
          </a:xfrm>
          <a:prstGeom prst="rect">
            <a:avLst/>
          </a:prstGeom>
          <a:noFill/>
          <a:ln/>
        </p:spPr>
        <p:txBody>
          <a:bodyPr wrap="square" lIns="0" tIns="0" rIns="0" bIns="0" rtlCol="0" anchor="t"/>
          <a:lstStyle/>
          <a:p>
            <a:pPr indent="0" marL="0">
              <a:lnSpc>
                <a:spcPts val="2000"/>
              </a:lnSpc>
              <a:buNone/>
            </a:pPr>
            <a:r>
              <a:rPr lang="en-US" sz="1350" dirty="0">
                <a:solidFill>
                  <a:srgbClr val="D5DDEA"/>
                </a:solidFill>
                <a:latin typeface="Calibri" pitchFamily="34" charset="0"/>
                <a:ea typeface="Calibri" pitchFamily="34" charset="-122"/>
                <a:cs typeface="Calibri" pitchFamily="34" charset="-120"/>
              </a:rPr>
              <a:t>Confirms the scale, adds the distributions the napkin cannot produce — Landau fluctuations, path-length dispersion, angular mixing — and quantifies what we already expected qualitatively.</a:t>
            </a:r>
            <a:endParaRPr lang="en-US" sz="1350" dirty="0"/>
          </a:p>
        </p:txBody>
      </p:sp>
      <p:sp>
        <p:nvSpPr>
          <p:cNvPr id="10" name="Text 8"/>
          <p:cNvSpPr/>
          <p:nvPr/>
        </p:nvSpPr>
        <p:spPr>
          <a:xfrm>
            <a:off x="777240" y="4800600"/>
            <a:ext cx="10607040" cy="685800"/>
          </a:xfrm>
          <a:prstGeom prst="rect">
            <a:avLst/>
          </a:prstGeom>
          <a:noFill/>
          <a:ln/>
        </p:spPr>
        <p:txBody>
          <a:bodyPr wrap="square" lIns="0" tIns="0" rIns="0" bIns="0" rtlCol="0" anchor="t"/>
          <a:lstStyle/>
          <a:p>
            <a:pPr indent="0" marL="0">
              <a:lnSpc>
                <a:spcPts val="1800"/>
              </a:lnSpc>
              <a:buNone/>
            </a:pPr>
            <a:r>
              <a:rPr lang="en-US" sz="1250" i="1" dirty="0">
                <a:solidFill>
                  <a:srgbClr val="8E9AB2"/>
                </a:solidFill>
                <a:latin typeface="Calibri" pitchFamily="34" charset="0"/>
                <a:ea typeface="Calibri" pitchFamily="34" charset="-122"/>
                <a:cs typeface="Calibri" pitchFamily="34" charset="-120"/>
              </a:rPr>
              <a:t>Knoll, Ch. 8, on optical Monte Carlo: these codes are accurate only to the extent that the assumptions about surface reflection, bulk absorption and the refractive indices of every medium are correct. Those are exactly the three inputs a napkin calculation can police.</a:t>
            </a:r>
            <a:endParaRPr lang="en-US" sz="1250" dirty="0"/>
          </a:p>
        </p:txBody>
      </p:sp>
      <p:sp>
        <p:nvSpPr>
          <p:cNvPr id="11" name="Text 9"/>
          <p:cNvSpPr/>
          <p:nvPr/>
        </p:nvSpPr>
        <p:spPr>
          <a:xfrm>
            <a:off x="777240" y="5623560"/>
            <a:ext cx="10607040" cy="457200"/>
          </a:xfrm>
          <a:prstGeom prst="rect">
            <a:avLst/>
          </a:prstGeom>
          <a:noFill/>
          <a:ln/>
        </p:spPr>
        <p:txBody>
          <a:bodyPr wrap="square" lIns="0" tIns="0" rIns="0" bIns="0" rtlCol="0" anchor="ctr"/>
          <a:lstStyle/>
          <a:p>
            <a:pPr indent="0" marL="0">
              <a:buNone/>
            </a:pPr>
            <a:r>
              <a:rPr lang="en-US" sz="1900" i="1" dirty="0">
                <a:solidFill>
                  <a:srgbClr val="1FA5C8"/>
                </a:solidFill>
                <a:latin typeface="Cambria" pitchFamily="34" charset="0"/>
                <a:ea typeface="Cambria" pitchFamily="34" charset="-122"/>
                <a:cs typeface="Cambria" pitchFamily="34" charset="-120"/>
              </a:rPr>
              <a:t>If the two disagree, one of them is wrong — and finding out which one is the actual result.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420624"/>
            <a:ext cx="566928" cy="566928"/>
          </a:xfrm>
          <a:prstGeom prst="ellipse">
            <a:avLst/>
          </a:prstGeom>
          <a:solidFill>
            <a:srgbClr val="1FA5C8"/>
          </a:solidFill>
          <a:ln/>
        </p:spPr>
      </p:sp>
      <p:sp>
        <p:nvSpPr>
          <p:cNvPr id="3" name="Text 1"/>
          <p:cNvSpPr/>
          <p:nvPr/>
        </p:nvSpPr>
        <p:spPr>
          <a:xfrm>
            <a:off x="50292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207008"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STEP 1 — ENERGY DEPOSITION</a:t>
            </a:r>
            <a:endParaRPr lang="en-US" sz="1100" dirty="0"/>
          </a:p>
        </p:txBody>
      </p:sp>
      <p:sp>
        <p:nvSpPr>
          <p:cNvPr id="5" name="Text 3"/>
          <p:cNvSpPr/>
          <p:nvPr/>
        </p:nvSpPr>
        <p:spPr>
          <a:xfrm>
            <a:off x="1207008"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How much energy does one muon leave?</a:t>
            </a:r>
            <a:endParaRPr lang="en-US" sz="2600" dirty="0"/>
          </a:p>
        </p:txBody>
      </p:sp>
      <p:sp>
        <p:nvSpPr>
          <p:cNvPr id="6" name="Shape 4"/>
          <p:cNvSpPr/>
          <p:nvPr/>
        </p:nvSpPr>
        <p:spPr>
          <a:xfrm>
            <a:off x="685800" y="1600200"/>
            <a:ext cx="6492240" cy="1417320"/>
          </a:xfrm>
          <a:prstGeom prst="roundRect">
            <a:avLst>
              <a:gd name="adj" fmla="val 3871"/>
            </a:avLst>
          </a:prstGeom>
          <a:solidFill>
            <a:srgbClr val="F2F4F8"/>
          </a:solidFill>
          <a:ln/>
        </p:spPr>
      </p:sp>
      <p:sp>
        <p:nvSpPr>
          <p:cNvPr id="7" name="Text 5"/>
          <p:cNvSpPr/>
          <p:nvPr/>
        </p:nvSpPr>
        <p:spPr>
          <a:xfrm>
            <a:off x="941832" y="1600200"/>
            <a:ext cx="6035040" cy="1417320"/>
          </a:xfrm>
          <a:prstGeom prst="rect">
            <a:avLst/>
          </a:prstGeom>
          <a:noFill/>
          <a:ln/>
        </p:spPr>
        <p:txBody>
          <a:bodyPr wrap="square" lIns="0" tIns="0" rIns="0" bIns="0" rtlCol="0" anchor="ctr"/>
          <a:lstStyle/>
          <a:p>
            <a:pPr indent="0" marL="0">
              <a:lnSpc>
                <a:spcPts val="2600"/>
              </a:lnSpc>
              <a:buNone/>
            </a:pPr>
            <a:r>
              <a:rPr lang="en-US" sz="1900" i="1" dirty="0">
                <a:solidFill>
                  <a:srgbClr val="0E1730"/>
                </a:solidFill>
                <a:latin typeface="Cambria" pitchFamily="34" charset="0"/>
                <a:ea typeface="Cambria" pitchFamily="34" charset="-122"/>
                <a:cs typeface="Cambria" pitchFamily="34" charset="-120"/>
              </a:rPr>
              <a:t>dE/dx  ≈  2 MeV/cm   (minimum ionizing, plastic)</a:t>
            </a:r>
            <a:endParaRPr lang="en-US" sz="1900" dirty="0"/>
          </a:p>
          <a:p>
            <a:pPr indent="0" marL="0">
              <a:lnSpc>
                <a:spcPts val="2600"/>
              </a:lnSpc>
              <a:buNone/>
            </a:pPr>
            <a:r>
              <a:rPr lang="en-US" sz="1900" i="1" dirty="0">
                <a:solidFill>
                  <a:srgbClr val="0E1730"/>
                </a:solidFill>
                <a:latin typeface="Cambria" pitchFamily="34" charset="0"/>
                <a:ea typeface="Cambria" pitchFamily="34" charset="-122"/>
                <a:cs typeface="Cambria" pitchFamily="34" charset="-120"/>
              </a:rPr>
              <a:t>T = 10 mm   →   Edep  ≈  2 MeV</a:t>
            </a:r>
            <a:endParaRPr lang="en-US" sz="1900" dirty="0"/>
          </a:p>
        </p:txBody>
      </p:sp>
      <p:sp>
        <p:nvSpPr>
          <p:cNvPr id="8" name="Text 6"/>
          <p:cNvSpPr/>
          <p:nvPr/>
        </p:nvSpPr>
        <p:spPr>
          <a:xfrm>
            <a:off x="7635240" y="1691640"/>
            <a:ext cx="3931920" cy="658368"/>
          </a:xfrm>
          <a:prstGeom prst="rect">
            <a:avLst/>
          </a:prstGeom>
          <a:noFill/>
          <a:ln/>
        </p:spPr>
        <p:txBody>
          <a:bodyPr wrap="square" lIns="0" tIns="0" rIns="0" bIns="0" rtlCol="0" anchor="ctr"/>
          <a:lstStyle/>
          <a:p>
            <a:pPr algn="l" indent="0" marL="0">
              <a:buNone/>
            </a:pPr>
            <a:r>
              <a:rPr lang="en-US" sz="3800" b="1" dirty="0">
                <a:solidFill>
                  <a:srgbClr val="2E5FA3"/>
                </a:solidFill>
                <a:latin typeface="Cambria" pitchFamily="34" charset="0"/>
                <a:ea typeface="Cambria" pitchFamily="34" charset="-122"/>
                <a:cs typeface="Cambria" pitchFamily="34" charset="-120"/>
              </a:rPr>
              <a:t>≈ 2 MeV</a:t>
            </a:r>
            <a:endParaRPr lang="en-US" sz="3800" dirty="0"/>
          </a:p>
        </p:txBody>
      </p:sp>
      <p:sp>
        <p:nvSpPr>
          <p:cNvPr id="9" name="Text 7"/>
          <p:cNvSpPr/>
          <p:nvPr/>
        </p:nvSpPr>
        <p:spPr>
          <a:xfrm>
            <a:off x="7635240" y="2313432"/>
            <a:ext cx="3931920" cy="457200"/>
          </a:xfrm>
          <a:prstGeom prst="rect">
            <a:avLst/>
          </a:prstGeom>
          <a:noFill/>
          <a:ln/>
        </p:spPr>
        <p:txBody>
          <a:bodyPr wrap="square" lIns="0" tIns="0" rIns="0" bIns="0" rtlCol="0" anchor="ctr"/>
          <a:lstStyle/>
          <a:p>
            <a:pPr algn="l" indent="0" marL="0">
              <a:buNone/>
            </a:pPr>
            <a:r>
              <a:rPr lang="en-US" sz="1150" dirty="0">
                <a:solidFill>
                  <a:srgbClr val="5A6478"/>
                </a:solidFill>
                <a:latin typeface="Calibri" pitchFamily="34" charset="0"/>
                <a:ea typeface="Calibri" pitchFamily="34" charset="-122"/>
                <a:cs typeface="Calibri" pitchFamily="34" charset="-120"/>
              </a:rPr>
              <a:t>deposited in 10 mm of scintillator</a:t>
            </a:r>
            <a:endParaRPr lang="en-US" sz="1150" dirty="0"/>
          </a:p>
        </p:txBody>
      </p:sp>
      <p:sp>
        <p:nvSpPr>
          <p:cNvPr id="10" name="Text 8"/>
          <p:cNvSpPr/>
          <p:nvPr/>
        </p:nvSpPr>
        <p:spPr>
          <a:xfrm>
            <a:off x="685800" y="3429000"/>
            <a:ext cx="6492240" cy="2103120"/>
          </a:xfrm>
          <a:prstGeom prst="rect">
            <a:avLst/>
          </a:prstGeom>
          <a:noFill/>
          <a:ln/>
        </p:spPr>
        <p:txBody>
          <a:bodyPr wrap="square" lIns="0" tIns="0" rIns="0" bIns="0" rtlCol="0" anchor="t"/>
          <a:lstStyle/>
          <a:p>
            <a:pPr marL="342900" indent="-342900">
              <a:lnSpc>
                <a:spcPts val="2100"/>
              </a:lnSpc>
              <a:spcAft>
                <a:spcPts val="800"/>
              </a:spcAft>
              <a:buSzPct val="100000"/>
              <a:buChar char="•"/>
            </a:pPr>
            <a:r>
              <a:rPr lang="en-US" sz="1500" dirty="0">
                <a:solidFill>
                  <a:srgbClr val="0E1730"/>
                </a:solidFill>
                <a:latin typeface="Calibri" pitchFamily="34" charset="0"/>
                <a:ea typeface="Calibri" pitchFamily="34" charset="-122"/>
                <a:cs typeface="Calibri" pitchFamily="34" charset="-120"/>
              </a:rPr>
              <a:t>One number, one line of arithmetic — but it sets the scale of everything downstream.</a:t>
            </a:r>
            <a:endParaRPr lang="en-US" sz="1500" dirty="0"/>
          </a:p>
          <a:p>
            <a:pPr marL="342900" indent="-342900">
              <a:lnSpc>
                <a:spcPts val="2100"/>
              </a:lnSpc>
              <a:spcAft>
                <a:spcPts val="800"/>
              </a:spcAft>
              <a:buSzPct val="100000"/>
              <a:buChar char="•"/>
            </a:pPr>
            <a:r>
              <a:rPr lang="en-US" sz="1500" dirty="0">
                <a:solidFill>
                  <a:srgbClr val="0E1730"/>
                </a:solidFill>
                <a:latin typeface="Calibri" pitchFamily="34" charset="0"/>
                <a:ea typeface="Calibri" pitchFamily="34" charset="-122"/>
                <a:cs typeface="Calibri" pitchFamily="34" charset="-120"/>
              </a:rPr>
              <a:t>It is deliberately crude: it fixes an order of magnitude, not a distribution.</a:t>
            </a:r>
            <a:endParaRPr lang="en-US" sz="1500" dirty="0"/>
          </a:p>
          <a:p>
            <a:pPr marL="342900" indent="-342900">
              <a:lnSpc>
                <a:spcPts val="2100"/>
              </a:lnSpc>
              <a:spcAft>
                <a:spcPts val="800"/>
              </a:spcAft>
              <a:buSzPct val="100000"/>
              <a:buChar char="•"/>
            </a:pPr>
            <a:r>
              <a:rPr lang="en-US" sz="1500" dirty="0">
                <a:solidFill>
                  <a:srgbClr val="0E1730"/>
                </a:solidFill>
                <a:latin typeface="Calibri" pitchFamily="34" charset="0"/>
                <a:ea typeface="Calibri" pitchFamily="34" charset="-122"/>
                <a:cs typeface="Calibri" pitchFamily="34" charset="-120"/>
              </a:rPr>
              <a:t>Every later factor in this talk multiplies this 2 MeV.</a:t>
            </a:r>
            <a:endParaRPr lang="en-US" sz="1500" dirty="0"/>
          </a:p>
        </p:txBody>
      </p:sp>
      <p:sp>
        <p:nvSpPr>
          <p:cNvPr id="11" name="Shape 9"/>
          <p:cNvSpPr/>
          <p:nvPr/>
        </p:nvSpPr>
        <p:spPr>
          <a:xfrm>
            <a:off x="7635240" y="3429000"/>
            <a:ext cx="3913632" cy="2103120"/>
          </a:xfrm>
          <a:prstGeom prst="roundRect">
            <a:avLst>
              <a:gd name="adj" fmla="val 2174"/>
            </a:avLst>
          </a:prstGeom>
          <a:solidFill>
            <a:srgbClr val="F2F4F8"/>
          </a:solidFill>
          <a:ln/>
        </p:spPr>
      </p:sp>
      <p:sp>
        <p:nvSpPr>
          <p:cNvPr id="12" name="Text 10"/>
          <p:cNvSpPr/>
          <p:nvPr/>
        </p:nvSpPr>
        <p:spPr>
          <a:xfrm>
            <a:off x="7891272" y="3593592"/>
            <a:ext cx="3401568" cy="237744"/>
          </a:xfrm>
          <a:prstGeom prst="rect">
            <a:avLst/>
          </a:prstGeom>
          <a:noFill/>
          <a:ln/>
        </p:spPr>
        <p:txBody>
          <a:bodyPr wrap="square" lIns="0" tIns="0" rIns="0" bIns="0" rtlCol="0" anchor="ctr"/>
          <a:lstStyle/>
          <a:p>
            <a:pPr indent="0" marL="0">
              <a:buNone/>
            </a:pPr>
            <a:r>
              <a:rPr lang="en-US" sz="1050" b="1" spc="130" kern="0" dirty="0">
                <a:solidFill>
                  <a:srgbClr val="5A6478"/>
                </a:solidFill>
                <a:latin typeface="Calibri" pitchFamily="34" charset="0"/>
                <a:ea typeface="Calibri" pitchFamily="34" charset="-122"/>
                <a:cs typeface="Calibri" pitchFamily="34" charset="-120"/>
              </a:rPr>
              <a:t>WHAT THE NAPKIN CANNOT GIVE</a:t>
            </a:r>
            <a:endParaRPr lang="en-US" sz="1050" dirty="0"/>
          </a:p>
        </p:txBody>
      </p:sp>
      <p:sp>
        <p:nvSpPr>
          <p:cNvPr id="13" name="Text 11"/>
          <p:cNvSpPr/>
          <p:nvPr/>
        </p:nvSpPr>
        <p:spPr>
          <a:xfrm>
            <a:off x="7891272" y="3886200"/>
            <a:ext cx="3401568" cy="146304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Geant4 adds the event-by-event fluctuation: full Bethe–Bloch, Landau tail, δ-ray production. The mean survives; the width is simulation territory.</a:t>
            </a:r>
            <a:endParaRPr lang="en-US" sz="1400" dirty="0"/>
          </a:p>
        </p:txBody>
      </p:sp>
      <p:sp>
        <p:nvSpPr>
          <p:cNvPr id="14" name="Text 12"/>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15" name="Text 13"/>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420624"/>
            <a:ext cx="566928" cy="566928"/>
          </a:xfrm>
          <a:prstGeom prst="ellipse">
            <a:avLst/>
          </a:prstGeom>
          <a:solidFill>
            <a:srgbClr val="1FA5C8"/>
          </a:solidFill>
          <a:ln/>
        </p:spPr>
      </p:sp>
      <p:sp>
        <p:nvSpPr>
          <p:cNvPr id="3" name="Text 1"/>
          <p:cNvSpPr/>
          <p:nvPr/>
        </p:nvSpPr>
        <p:spPr>
          <a:xfrm>
            <a:off x="50292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207008"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STEP 2 — SCINTILLATION YIELD</a:t>
            </a:r>
            <a:endParaRPr lang="en-US" sz="1100" dirty="0"/>
          </a:p>
        </p:txBody>
      </p:sp>
      <p:sp>
        <p:nvSpPr>
          <p:cNvPr id="5" name="Text 3"/>
          <p:cNvSpPr/>
          <p:nvPr/>
        </p:nvSpPr>
        <p:spPr>
          <a:xfrm>
            <a:off x="1207008"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From 2 MeV to twenty thousand photons</a:t>
            </a:r>
            <a:endParaRPr lang="en-US" sz="2600" dirty="0"/>
          </a:p>
        </p:txBody>
      </p:sp>
      <p:sp>
        <p:nvSpPr>
          <p:cNvPr id="6" name="Shape 4"/>
          <p:cNvSpPr/>
          <p:nvPr/>
        </p:nvSpPr>
        <p:spPr>
          <a:xfrm>
            <a:off x="685800" y="1572768"/>
            <a:ext cx="6035040" cy="1234440"/>
          </a:xfrm>
          <a:prstGeom prst="roundRect">
            <a:avLst>
              <a:gd name="adj" fmla="val 4444"/>
            </a:avLst>
          </a:prstGeom>
          <a:solidFill>
            <a:srgbClr val="F2F4F8"/>
          </a:solidFill>
          <a:ln/>
        </p:spPr>
      </p:sp>
      <p:sp>
        <p:nvSpPr>
          <p:cNvPr id="7" name="Text 5"/>
          <p:cNvSpPr/>
          <p:nvPr/>
        </p:nvSpPr>
        <p:spPr>
          <a:xfrm>
            <a:off x="941832" y="1572768"/>
            <a:ext cx="5577840" cy="1234440"/>
          </a:xfrm>
          <a:prstGeom prst="rect">
            <a:avLst/>
          </a:prstGeom>
          <a:noFill/>
          <a:ln/>
        </p:spPr>
        <p:txBody>
          <a:bodyPr wrap="square" lIns="0" tIns="0" rIns="0" bIns="0" rtlCol="0" anchor="ctr"/>
          <a:lstStyle/>
          <a:p>
            <a:pPr indent="0" marL="0">
              <a:lnSpc>
                <a:spcPts val="2600"/>
              </a:lnSpc>
              <a:buNone/>
            </a:pPr>
            <a:r>
              <a:rPr lang="en-US" sz="1700" i="1" dirty="0">
                <a:solidFill>
                  <a:srgbClr val="0E1730"/>
                </a:solidFill>
                <a:latin typeface="Cambria" pitchFamily="34" charset="0"/>
                <a:ea typeface="Cambria" pitchFamily="34" charset="-122"/>
                <a:cs typeface="Cambria" pitchFamily="34" charset="-120"/>
              </a:rPr>
              <a:t>Nγ  =  Edep · Y   ≈   2 × 9700   ≈   1.94 × 10⁴ photons</a:t>
            </a:r>
            <a:endParaRPr lang="en-US" sz="1700" dirty="0"/>
          </a:p>
        </p:txBody>
      </p:sp>
      <p:sp>
        <p:nvSpPr>
          <p:cNvPr id="8" name="Shape 6"/>
          <p:cNvSpPr/>
          <p:nvPr/>
        </p:nvSpPr>
        <p:spPr>
          <a:xfrm>
            <a:off x="7086600" y="1572768"/>
            <a:ext cx="4434840" cy="1234440"/>
          </a:xfrm>
          <a:prstGeom prst="roundRect">
            <a:avLst>
              <a:gd name="adj" fmla="val 3704"/>
            </a:avLst>
          </a:prstGeom>
          <a:solidFill>
            <a:srgbClr val="E9F2FA"/>
          </a:solidFill>
          <a:ln/>
        </p:spPr>
      </p:sp>
      <p:sp>
        <p:nvSpPr>
          <p:cNvPr id="9" name="Text 7"/>
          <p:cNvSpPr/>
          <p:nvPr/>
        </p:nvSpPr>
        <p:spPr>
          <a:xfrm>
            <a:off x="7360920" y="1572768"/>
            <a:ext cx="3931920" cy="1234440"/>
          </a:xfrm>
          <a:prstGeom prst="rect">
            <a:avLst/>
          </a:prstGeom>
          <a:noFill/>
          <a:ln/>
        </p:spPr>
        <p:txBody>
          <a:bodyPr wrap="square" lIns="0" tIns="0" rIns="0" bIns="0" rtlCol="0" anchor="ctr"/>
          <a:lstStyle/>
          <a:p>
            <a:pPr indent="0" marL="0">
              <a:lnSpc>
                <a:spcPts val="3400"/>
              </a:lnSpc>
              <a:buNone/>
            </a:pPr>
            <a:r>
              <a:rPr lang="en-US" sz="3200" b="1" dirty="0">
                <a:solidFill>
                  <a:srgbClr val="2E5FA3"/>
                </a:solidFill>
                <a:latin typeface="Cambria" pitchFamily="34" charset="0"/>
                <a:ea typeface="Cambria" pitchFamily="34" charset="-122"/>
                <a:cs typeface="Cambria" pitchFamily="34" charset="-120"/>
              </a:rPr>
              <a:t>≈ 2 × 10⁴</a:t>
            </a:r>
            <a:endParaRPr lang="en-US" sz="3200" dirty="0"/>
          </a:p>
          <a:p>
            <a:pPr indent="0" marL="0">
              <a:lnSpc>
                <a:spcPts val="3400"/>
              </a:lnSpc>
              <a:buNone/>
            </a:pPr>
            <a:r>
              <a:rPr lang="en-US" sz="1150" dirty="0">
                <a:solidFill>
                  <a:srgbClr val="5A6478"/>
                </a:solidFill>
                <a:latin typeface="Calibri" pitchFamily="34" charset="0"/>
                <a:ea typeface="Calibri" pitchFamily="34" charset="-122"/>
                <a:cs typeface="Calibri" pitchFamily="34" charset="-120"/>
              </a:rPr>
              <a:t>optical photons per crossing muon</a:t>
            </a:r>
            <a:endParaRPr lang="en-US" sz="3200" dirty="0"/>
          </a:p>
        </p:txBody>
      </p:sp>
      <p:sp>
        <p:nvSpPr>
          <p:cNvPr id="10" name="Text 8"/>
          <p:cNvSpPr/>
          <p:nvPr/>
        </p:nvSpPr>
        <p:spPr>
          <a:xfrm>
            <a:off x="685800" y="3063240"/>
            <a:ext cx="5486400" cy="292608"/>
          </a:xfrm>
          <a:prstGeom prst="rect">
            <a:avLst/>
          </a:prstGeom>
          <a:noFill/>
          <a:ln/>
        </p:spPr>
        <p:txBody>
          <a:bodyPr wrap="square" lIns="0" tIns="0" rIns="0" bIns="0" rtlCol="0" anchor="ctr"/>
          <a:lstStyle/>
          <a:p>
            <a:pPr indent="0" marL="0">
              <a:buNone/>
            </a:pPr>
            <a:r>
              <a:rPr lang="en-US" sz="1200" b="1" spc="80" kern="0" dirty="0">
                <a:solidFill>
                  <a:srgbClr val="5A6478"/>
                </a:solidFill>
                <a:latin typeface="Calibri" pitchFamily="34" charset="0"/>
                <a:ea typeface="Calibri" pitchFamily="34" charset="-122"/>
                <a:cs typeface="Calibri" pitchFamily="34" charset="-120"/>
              </a:rPr>
              <a:t>Optical properties used in the simulations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3429000"/>
          <a:ext cx="6035040" cy="914400"/>
        </p:xfrm>
        <a:graphic>
          <a:graphicData uri="http://schemas.openxmlformats.org/drawingml/2006/table">
            <a:tbl>
              <a:tblPr/>
              <a:tblGrid>
                <a:gridCol w="1737360"/>
                <a:gridCol w="1737360"/>
                <a:gridCol w="1188720"/>
                <a:gridCol w="1371600"/>
              </a:tblGrid>
              <a:tr h="411480">
                <a:tc>
                  <a:txBody>
                    <a:bodyPr/>
                    <a:lstStyle/>
                    <a:p>
                      <a:pPr algn="l" indent="0" marL="0">
                        <a:buNone/>
                      </a:pPr>
                      <a:r>
                        <a:rPr lang="en-US" sz="1400" b="1" dirty="0">
                          <a:solidFill>
                            <a:srgbClr val="0E1730"/>
                          </a:solidFill>
                          <a:latin typeface="Calibri" pitchFamily="34" charset="0"/>
                          <a:ea typeface="Calibri" pitchFamily="34" charset="-122"/>
                          <a:cs typeface="Calibri" pitchFamily="34" charset="-120"/>
                        </a:rPr>
                        <a:t>Material</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0E1730"/>
                          </a:solidFill>
                          <a:latin typeface="Calibri" pitchFamily="34" charset="0"/>
                          <a:ea typeface="Calibri" pitchFamily="34" charset="-122"/>
                          <a:cs typeface="Calibri" pitchFamily="34" charset="-120"/>
                        </a:rPr>
                        <a:t>Yield [ph/MeV]</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0E1730"/>
                          </a:solidFill>
                          <a:latin typeface="Calibri" pitchFamily="34" charset="0"/>
                          <a:ea typeface="Calibri" pitchFamily="34" charset="-122"/>
                          <a:cs typeface="Calibri" pitchFamily="34" charset="-120"/>
                        </a:rPr>
                        <a:t>τd [ns]</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0E1730"/>
                          </a:solidFill>
                          <a:latin typeface="Calibri" pitchFamily="34" charset="0"/>
                          <a:ea typeface="Calibri" pitchFamily="34" charset="-122"/>
                          <a:cs typeface="Calibri" pitchFamily="34" charset="-120"/>
                        </a:rPr>
                        <a:t>λatt [cm]</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EJ-200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380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EJ-204</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10400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EJ-230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9700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E1730"/>
                          </a:solidFill>
                          <a:latin typeface="Calibri" pitchFamily="34" charset="0"/>
                          <a:ea typeface="Calibri" pitchFamily="34" charset="-122"/>
                          <a:cs typeface="Calibri" pitchFamily="34" charset="-120"/>
                        </a:rPr>
                        <a:t>120</a:t>
                      </a:r>
                      <a:endParaRPr lang="en-US" sz="14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bl>
          </a:graphicData>
        </a:graphic>
      </p:graphicFrame>
      <p:sp>
        <p:nvSpPr>
          <p:cNvPr id="12" name="Shape 9"/>
          <p:cNvSpPr/>
          <p:nvPr/>
        </p:nvSpPr>
        <p:spPr>
          <a:xfrm>
            <a:off x="7086600" y="3429000"/>
            <a:ext cx="4434840" cy="2286000"/>
          </a:xfrm>
          <a:prstGeom prst="roundRect">
            <a:avLst>
              <a:gd name="adj" fmla="val 2000"/>
            </a:avLst>
          </a:prstGeom>
          <a:solidFill>
            <a:srgbClr val="FBF0DE"/>
          </a:solidFill>
          <a:ln/>
        </p:spPr>
      </p:sp>
      <p:sp>
        <p:nvSpPr>
          <p:cNvPr id="13" name="Text 10"/>
          <p:cNvSpPr/>
          <p:nvPr/>
        </p:nvSpPr>
        <p:spPr>
          <a:xfrm>
            <a:off x="7342632" y="3593592"/>
            <a:ext cx="3922776"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THE TRADE-OFF IS ALREADY VISIBLE</a:t>
            </a:r>
            <a:endParaRPr lang="en-US" sz="1050" dirty="0"/>
          </a:p>
        </p:txBody>
      </p:sp>
      <p:sp>
        <p:nvSpPr>
          <p:cNvPr id="14" name="Text 11"/>
          <p:cNvSpPr/>
          <p:nvPr/>
        </p:nvSpPr>
        <p:spPr>
          <a:xfrm>
            <a:off x="7342632" y="3886200"/>
            <a:ext cx="3922776" cy="164592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The three yields are the same to within 7 %. What separates the materials is not how much light they make, but how much survives 70 cm of travel (λatt) and how fast the emission decays (τd). Those two pull in opposite directions.</a:t>
            </a:r>
            <a:endParaRPr lang="en-US" sz="1400" dirty="0"/>
          </a:p>
        </p:txBody>
      </p:sp>
      <p:sp>
        <p:nvSpPr>
          <p:cNvPr id="15" name="Text 12"/>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16" name="Text 13"/>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420624"/>
            <a:ext cx="566928" cy="566928"/>
          </a:xfrm>
          <a:prstGeom prst="ellipse">
            <a:avLst/>
          </a:prstGeom>
          <a:solidFill>
            <a:srgbClr val="1FA5C8"/>
          </a:solidFill>
          <a:ln/>
        </p:spPr>
      </p:sp>
      <p:sp>
        <p:nvSpPr>
          <p:cNvPr id="3" name="Text 1"/>
          <p:cNvSpPr/>
          <p:nvPr/>
        </p:nvSpPr>
        <p:spPr>
          <a:xfrm>
            <a:off x="50292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207008"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STEP 3 — TOTAL INTERNAL REFLECTION</a:t>
            </a:r>
            <a:endParaRPr lang="en-US" sz="1100" dirty="0"/>
          </a:p>
        </p:txBody>
      </p:sp>
      <p:sp>
        <p:nvSpPr>
          <p:cNvPr id="5" name="Text 3"/>
          <p:cNvSpPr/>
          <p:nvPr/>
        </p:nvSpPr>
        <p:spPr>
          <a:xfrm>
            <a:off x="1207008"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How much of that light can stay inside?</a:t>
            </a:r>
            <a:endParaRPr lang="en-US" sz="2600" dirty="0"/>
          </a:p>
        </p:txBody>
      </p:sp>
      <p:sp>
        <p:nvSpPr>
          <p:cNvPr id="6" name="Shape 4"/>
          <p:cNvSpPr/>
          <p:nvPr/>
        </p:nvSpPr>
        <p:spPr>
          <a:xfrm>
            <a:off x="685800" y="1572768"/>
            <a:ext cx="6035040" cy="1783080"/>
          </a:xfrm>
          <a:prstGeom prst="roundRect">
            <a:avLst>
              <a:gd name="adj" fmla="val 3077"/>
            </a:avLst>
          </a:prstGeom>
          <a:solidFill>
            <a:srgbClr val="F2F4F8"/>
          </a:solidFill>
          <a:ln/>
        </p:spPr>
      </p:sp>
      <p:sp>
        <p:nvSpPr>
          <p:cNvPr id="7" name="Text 5"/>
          <p:cNvSpPr/>
          <p:nvPr/>
        </p:nvSpPr>
        <p:spPr>
          <a:xfrm>
            <a:off x="941832" y="1572768"/>
            <a:ext cx="5577840" cy="1783080"/>
          </a:xfrm>
          <a:prstGeom prst="rect">
            <a:avLst/>
          </a:prstGeom>
          <a:noFill/>
          <a:ln/>
        </p:spPr>
        <p:txBody>
          <a:bodyPr wrap="square" lIns="0" tIns="0" rIns="0" bIns="0" rtlCol="0" anchor="ctr"/>
          <a:lstStyle/>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ns sin θc = na ,   ns ≈ 1.58   →   θc = 39.3°</a:t>
            </a:r>
            <a:endParaRPr lang="en-US" sz="1550" dirty="0"/>
          </a:p>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αc = 90° − θc = 50.7°   measured from the surface</a:t>
            </a:r>
            <a:endParaRPr lang="en-US" sz="1550" dirty="0"/>
          </a:p>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|u⊥|  &lt;  cos θc  =  √(1 − 1/ns²)  =  0.774</a:t>
            </a:r>
            <a:endParaRPr lang="en-US" sz="1550" dirty="0"/>
          </a:p>
        </p:txBody>
      </p:sp>
      <p:sp>
        <p:nvSpPr>
          <p:cNvPr id="8" name="Text 6"/>
          <p:cNvSpPr/>
          <p:nvPr/>
        </p:nvSpPr>
        <p:spPr>
          <a:xfrm>
            <a:off x="685800" y="3456432"/>
            <a:ext cx="6035040" cy="457200"/>
          </a:xfrm>
          <a:prstGeom prst="rect">
            <a:avLst/>
          </a:prstGeom>
          <a:noFill/>
          <a:ln/>
        </p:spPr>
        <p:txBody>
          <a:bodyPr wrap="square" lIns="0" tIns="0" rIns="0" bIns="0" rtlCol="0" anchor="ctr"/>
          <a:lstStyle/>
          <a:p>
            <a:pPr indent="0" marL="0">
              <a:buNone/>
            </a:pPr>
            <a:r>
              <a:rPr lang="en-US" sz="1300" i="1" dirty="0">
                <a:solidFill>
                  <a:srgbClr val="5A6478"/>
                </a:solidFill>
                <a:latin typeface="Calibri" pitchFamily="34" charset="0"/>
                <a:ea typeface="Calibri" pitchFamily="34" charset="-122"/>
                <a:cs typeface="Calibri" pitchFamily="34" charset="-120"/>
              </a:rPr>
              <a:t>An exact trigonometric identity combined with Snell — no Taylor expansion, no small-angle approximation.</a:t>
            </a:r>
            <a:endParaRPr lang="en-US" sz="1300" dirty="0"/>
          </a:p>
        </p:txBody>
      </p:sp>
      <p:sp>
        <p:nvSpPr>
          <p:cNvPr id="9" name="Shape 7"/>
          <p:cNvSpPr/>
          <p:nvPr/>
        </p:nvSpPr>
        <p:spPr>
          <a:xfrm>
            <a:off x="685800" y="4041648"/>
            <a:ext cx="6035040" cy="1554480"/>
          </a:xfrm>
          <a:prstGeom prst="roundRect">
            <a:avLst>
              <a:gd name="adj" fmla="val 3529"/>
            </a:avLst>
          </a:prstGeom>
          <a:solidFill>
            <a:srgbClr val="E9F2FA"/>
          </a:solidFill>
          <a:ln/>
        </p:spPr>
      </p:sp>
      <p:sp>
        <p:nvSpPr>
          <p:cNvPr id="10" name="Text 8"/>
          <p:cNvSpPr/>
          <p:nvPr/>
        </p:nvSpPr>
        <p:spPr>
          <a:xfrm>
            <a:off x="941832" y="4041648"/>
            <a:ext cx="5577840" cy="1554480"/>
          </a:xfrm>
          <a:prstGeom prst="rect">
            <a:avLst/>
          </a:prstGeom>
          <a:noFill/>
          <a:ln/>
        </p:spPr>
        <p:txBody>
          <a:bodyPr wrap="square" lIns="0" tIns="0" rIns="0" bIns="0" rtlCol="0" anchor="ctr"/>
          <a:lstStyle/>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isotropic:   P(|uy| &lt; a) = a = 0.774   per wall family</a:t>
            </a:r>
            <a:endParaRPr lang="en-US" sz="1550" dirty="0"/>
          </a:p>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both transverse dimensions:   fTIR = 2a − 1 ≈ 0.548</a:t>
            </a:r>
            <a:endParaRPr lang="en-US" sz="1550" dirty="0"/>
          </a:p>
        </p:txBody>
      </p:sp>
      <p:sp>
        <p:nvSpPr>
          <p:cNvPr id="11" name="Shape 9"/>
          <p:cNvSpPr/>
          <p:nvPr/>
        </p:nvSpPr>
        <p:spPr>
          <a:xfrm>
            <a:off x="7059168" y="1572768"/>
            <a:ext cx="4480560" cy="1481328"/>
          </a:xfrm>
          <a:prstGeom prst="roundRect">
            <a:avLst>
              <a:gd name="adj" fmla="val 3086"/>
            </a:avLst>
          </a:prstGeom>
          <a:solidFill>
            <a:srgbClr val="E9F2FA"/>
          </a:solidFill>
          <a:ln/>
        </p:spPr>
      </p:sp>
      <p:sp>
        <p:nvSpPr>
          <p:cNvPr id="12" name="Text 10"/>
          <p:cNvSpPr/>
          <p:nvPr/>
        </p:nvSpPr>
        <p:spPr>
          <a:xfrm>
            <a:off x="7315200" y="1737360"/>
            <a:ext cx="3968496" cy="237744"/>
          </a:xfrm>
          <a:prstGeom prst="rect">
            <a:avLst/>
          </a:prstGeom>
          <a:noFill/>
          <a:ln/>
        </p:spPr>
        <p:txBody>
          <a:bodyPr wrap="square" lIns="0" tIns="0" rIns="0" bIns="0" rtlCol="0" anchor="ctr"/>
          <a:lstStyle/>
          <a:p>
            <a:pPr indent="0" marL="0">
              <a:buNone/>
            </a:pPr>
            <a:r>
              <a:rPr lang="en-US" sz="1050" b="1" spc="130" kern="0" dirty="0">
                <a:solidFill>
                  <a:srgbClr val="2E5FA3"/>
                </a:solidFill>
                <a:latin typeface="Calibri" pitchFamily="34" charset="0"/>
                <a:ea typeface="Calibri" pitchFamily="34" charset="-122"/>
                <a:cs typeface="Calibri" pitchFamily="34" charset="-120"/>
              </a:rPr>
              <a:t>KNOLL EQ. 8.15 — SLAB GEOMETRY</a:t>
            </a:r>
            <a:endParaRPr lang="en-US" sz="1050" dirty="0"/>
          </a:p>
        </p:txBody>
      </p:sp>
      <p:sp>
        <p:nvSpPr>
          <p:cNvPr id="13" name="Text 11"/>
          <p:cNvSpPr/>
          <p:nvPr/>
        </p:nvSpPr>
        <p:spPr>
          <a:xfrm>
            <a:off x="7315200" y="2029968"/>
            <a:ext cx="3968496" cy="841248"/>
          </a:xfrm>
          <a:prstGeom prst="rect">
            <a:avLst/>
          </a:prstGeom>
          <a:noFill/>
          <a:ln/>
        </p:spPr>
        <p:txBody>
          <a:bodyPr wrap="square" lIns="0" tIns="0" rIns="0" bIns="0" rtlCol="0" anchor="t"/>
          <a:lstStyle/>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F = √(1 − (n1/n0)²) = cos θc. The textbook quotes 75 % at n = 1.5; at n = 1.58 it returns 0.774 — our single wall family, exactly.</a:t>
            </a:r>
            <a:endParaRPr lang="en-US" sz="1300" dirty="0"/>
          </a:p>
        </p:txBody>
      </p:sp>
      <p:sp>
        <p:nvSpPr>
          <p:cNvPr id="14" name="Shape 12"/>
          <p:cNvSpPr/>
          <p:nvPr/>
        </p:nvSpPr>
        <p:spPr>
          <a:xfrm>
            <a:off x="7059168" y="3127248"/>
            <a:ext cx="4480560" cy="1481328"/>
          </a:xfrm>
          <a:prstGeom prst="roundRect">
            <a:avLst>
              <a:gd name="adj" fmla="val 3086"/>
            </a:avLst>
          </a:prstGeom>
          <a:solidFill>
            <a:srgbClr val="F2F4F8"/>
          </a:solidFill>
          <a:ln/>
        </p:spPr>
      </p:sp>
      <p:sp>
        <p:nvSpPr>
          <p:cNvPr id="15" name="Text 13"/>
          <p:cNvSpPr/>
          <p:nvPr/>
        </p:nvSpPr>
        <p:spPr>
          <a:xfrm>
            <a:off x="7315200" y="3291840"/>
            <a:ext cx="3968496"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BUT THE BAR IS NOT A SLAB</a:t>
            </a:r>
            <a:endParaRPr lang="en-US" sz="1050" dirty="0"/>
          </a:p>
        </p:txBody>
      </p:sp>
      <p:sp>
        <p:nvSpPr>
          <p:cNvPr id="16" name="Text 14"/>
          <p:cNvSpPr/>
          <p:nvPr/>
        </p:nvSpPr>
        <p:spPr>
          <a:xfrm>
            <a:off x="7315200" y="3584448"/>
            <a:ext cx="3968496" cy="841248"/>
          </a:xfrm>
          <a:prstGeom prst="rect">
            <a:avLst/>
          </a:prstGeom>
          <a:noFill/>
          <a:ln/>
        </p:spPr>
        <p:txBody>
          <a:bodyPr wrap="square" lIns="0" tIns="0" rIns="0" bIns="0" rtlCol="0" anchor="t"/>
          <a:lstStyle/>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Two wall families must hold simultaneously: fTIR = 2a − 1 = 0.548, i.e. ≈ 0.274 towards each end. That split matters later.</a:t>
            </a:r>
            <a:endParaRPr lang="en-US" sz="1300" dirty="0"/>
          </a:p>
        </p:txBody>
      </p:sp>
      <p:sp>
        <p:nvSpPr>
          <p:cNvPr id="17" name="Shape 15"/>
          <p:cNvSpPr/>
          <p:nvPr/>
        </p:nvSpPr>
        <p:spPr>
          <a:xfrm>
            <a:off x="7059168" y="4681728"/>
            <a:ext cx="4480560" cy="1371600"/>
          </a:xfrm>
          <a:prstGeom prst="roundRect">
            <a:avLst>
              <a:gd name="adj" fmla="val 3333"/>
            </a:avLst>
          </a:prstGeom>
          <a:solidFill>
            <a:srgbClr val="FBF0DE"/>
          </a:solidFill>
          <a:ln/>
        </p:spPr>
      </p:sp>
      <p:sp>
        <p:nvSpPr>
          <p:cNvPr id="18" name="Text 16"/>
          <p:cNvSpPr/>
          <p:nvPr/>
        </p:nvSpPr>
        <p:spPr>
          <a:xfrm>
            <a:off x="7315200" y="4846320"/>
            <a:ext cx="3968496"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AND IT IS NOT A CYLINDER EITHER</a:t>
            </a:r>
            <a:endParaRPr lang="en-US" sz="1050" dirty="0"/>
          </a:p>
        </p:txBody>
      </p:sp>
      <p:sp>
        <p:nvSpPr>
          <p:cNvPr id="19" name="Text 17"/>
          <p:cNvSpPr/>
          <p:nvPr/>
        </p:nvSpPr>
        <p:spPr>
          <a:xfrm>
            <a:off x="7315200" y="5138928"/>
            <a:ext cx="3968496" cy="731520"/>
          </a:xfrm>
          <a:prstGeom prst="rect">
            <a:avLst/>
          </a:prstGeom>
          <a:noFill/>
          <a:ln/>
        </p:spPr>
        <p:txBody>
          <a:bodyPr wrap="square" lIns="0" tIns="0" rIns="0" bIns="0" rtlCol="0" anchor="t"/>
          <a:lstStyle/>
          <a:p>
            <a:pPr indent="0" marL="0">
              <a:lnSpc>
                <a:spcPts val="2000"/>
              </a:lnSpc>
              <a:buNone/>
            </a:pPr>
            <a:r>
              <a:rPr lang="en-US" sz="1250" dirty="0">
                <a:solidFill>
                  <a:srgbClr val="0E1730"/>
                </a:solidFill>
                <a:latin typeface="Calibri" pitchFamily="34" charset="0"/>
                <a:ea typeface="Calibri" pitchFamily="34" charset="-122"/>
                <a:cs typeface="Calibri" pitchFamily="34" charset="-120"/>
              </a:rPr>
              <a:t>Knoll Eq. 8.14, meridional rays: ½(1 − n1/n0) = 18.4 % per direction. A different geometrical quantity from the 80 % quoted for EJ-228 — not comparable as it stands.</a:t>
            </a:r>
            <a:endParaRPr lang="en-US" sz="1250" dirty="0"/>
          </a:p>
        </p:txBody>
      </p:sp>
      <p:sp>
        <p:nvSpPr>
          <p:cNvPr id="20" name="Text 18"/>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      |      Knoll, Radiation Detection and Measurement, Ch. 8, Eqs. 8.14–8.15</a:t>
            </a:r>
            <a:endParaRPr lang="en-US" sz="900" dirty="0"/>
          </a:p>
        </p:txBody>
      </p:sp>
      <p:sp>
        <p:nvSpPr>
          <p:cNvPr id="21" name="Text 19"/>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420624"/>
            <a:ext cx="566928" cy="566928"/>
          </a:xfrm>
          <a:prstGeom prst="ellipse">
            <a:avLst/>
          </a:prstGeom>
          <a:solidFill>
            <a:srgbClr val="1FA5C8"/>
          </a:solidFill>
          <a:ln/>
        </p:spPr>
      </p:sp>
      <p:sp>
        <p:nvSpPr>
          <p:cNvPr id="3" name="Text 1"/>
          <p:cNvSpPr/>
          <p:nvPr/>
        </p:nvSpPr>
        <p:spPr>
          <a:xfrm>
            <a:off x="50292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207008"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STEP 4 — LONGITUDINAL VELOCITY</a:t>
            </a:r>
            <a:endParaRPr lang="en-US" sz="1100" dirty="0"/>
          </a:p>
        </p:txBody>
      </p:sp>
      <p:sp>
        <p:nvSpPr>
          <p:cNvPr id="5" name="Text 3"/>
          <p:cNvSpPr/>
          <p:nvPr/>
        </p:nvSpPr>
        <p:spPr>
          <a:xfrm>
            <a:off x="1207008"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How fast does the light travel — and how axial is it?</a:t>
            </a:r>
            <a:endParaRPr lang="en-US" sz="2600" dirty="0"/>
          </a:p>
        </p:txBody>
      </p:sp>
      <p:sp>
        <p:nvSpPr>
          <p:cNvPr id="6" name="Shape 4"/>
          <p:cNvSpPr/>
          <p:nvPr/>
        </p:nvSpPr>
        <p:spPr>
          <a:xfrm>
            <a:off x="685800" y="1572768"/>
            <a:ext cx="5760720" cy="1737360"/>
          </a:xfrm>
          <a:prstGeom prst="roundRect">
            <a:avLst>
              <a:gd name="adj" fmla="val 3158"/>
            </a:avLst>
          </a:prstGeom>
          <a:solidFill>
            <a:srgbClr val="F2F4F8"/>
          </a:solidFill>
          <a:ln/>
        </p:spPr>
      </p:sp>
      <p:sp>
        <p:nvSpPr>
          <p:cNvPr id="7" name="Text 5"/>
          <p:cNvSpPr/>
          <p:nvPr/>
        </p:nvSpPr>
        <p:spPr>
          <a:xfrm>
            <a:off x="941832" y="1572768"/>
            <a:ext cx="5303520" cy="1737360"/>
          </a:xfrm>
          <a:prstGeom prst="rect">
            <a:avLst/>
          </a:prstGeom>
          <a:noFill/>
          <a:ln/>
        </p:spPr>
        <p:txBody>
          <a:bodyPr wrap="square" lIns="0" tIns="0" rIns="0" bIns="0" rtlCol="0" anchor="ctr"/>
          <a:lstStyle/>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vg ≈ c/ns ≈ 190 mm/ns    →    700 mm in ≈ 3.7 ns (axial ray)</a:t>
            </a:r>
            <a:endParaRPr lang="en-US" sz="1550" dirty="0"/>
          </a:p>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vx = (c/ns) cos β    →    diagonal rays are longitudinally slower</a:t>
            </a:r>
            <a:endParaRPr lang="en-US" sz="1550" dirty="0"/>
          </a:p>
        </p:txBody>
      </p:sp>
      <p:sp>
        <p:nvSpPr>
          <p:cNvPr id="8" name="Text 6"/>
          <p:cNvSpPr/>
          <p:nvPr/>
        </p:nvSpPr>
        <p:spPr>
          <a:xfrm>
            <a:off x="685800" y="3493008"/>
            <a:ext cx="5760720" cy="365760"/>
          </a:xfrm>
          <a:prstGeom prst="rect">
            <a:avLst/>
          </a:prstGeom>
          <a:noFill/>
          <a:ln/>
        </p:spPr>
        <p:txBody>
          <a:bodyPr wrap="square" lIns="0" tIns="0" rIns="0" bIns="0" rtlCol="0" anchor="ctr"/>
          <a:lstStyle/>
          <a:p>
            <a:pPr indent="0" marL="0">
              <a:buNone/>
            </a:pPr>
            <a:r>
              <a:rPr lang="en-US" sz="1300" b="1" dirty="0">
                <a:solidFill>
                  <a:srgbClr val="0E1730"/>
                </a:solidFill>
                <a:latin typeface="Calibri" pitchFamily="34" charset="0"/>
                <a:ea typeface="Calibri" pitchFamily="34" charset="-122"/>
                <a:cs typeface="Calibri" pitchFamily="34" charset="-120"/>
              </a:rPr>
              <a:t>Reading Geant4 backwards: what equivalent angle does the measured propagation slope imply?</a:t>
            </a:r>
            <a:endParaRPr lang="en-US" sz="1300" dirty="0"/>
          </a:p>
        </p:txBody>
      </p:sp>
      <p:sp>
        <p:nvSpPr>
          <p:cNvPr id="9" name="Shape 7"/>
          <p:cNvSpPr/>
          <p:nvPr/>
        </p:nvSpPr>
        <p:spPr>
          <a:xfrm>
            <a:off x="685800" y="3931920"/>
            <a:ext cx="5760720" cy="1737360"/>
          </a:xfrm>
          <a:prstGeom prst="roundRect">
            <a:avLst>
              <a:gd name="adj" fmla="val 3158"/>
            </a:avLst>
          </a:prstGeom>
          <a:solidFill>
            <a:srgbClr val="FBF0DE"/>
          </a:solidFill>
          <a:ln/>
        </p:spPr>
      </p:sp>
      <p:sp>
        <p:nvSpPr>
          <p:cNvPr id="10" name="Text 8"/>
          <p:cNvSpPr/>
          <p:nvPr/>
        </p:nvSpPr>
        <p:spPr>
          <a:xfrm>
            <a:off x="941832" y="3931920"/>
            <a:ext cx="5303520" cy="1737360"/>
          </a:xfrm>
          <a:prstGeom prst="rect">
            <a:avLst/>
          </a:prstGeom>
          <a:noFill/>
          <a:ln/>
        </p:spPr>
        <p:txBody>
          <a:bodyPr wrap="square" lIns="0" tIns="0" rIns="0" bIns="0" rtlCol="0" anchor="ctr"/>
          <a:lstStyle/>
          <a:p>
            <a:pPr indent="0" marL="0">
              <a:lnSpc>
                <a:spcPts val="2600"/>
              </a:lnSpc>
              <a:buNone/>
            </a:pPr>
            <a:r>
              <a:rPr lang="en-US" sz="1500" i="1" dirty="0">
                <a:solidFill>
                  <a:srgbClr val="0E1730"/>
                </a:solidFill>
                <a:latin typeface="Cambria" pitchFamily="34" charset="0"/>
                <a:ea typeface="Cambria" pitchFamily="34" charset="-122"/>
                <a:cs typeface="Cambria" pitchFamily="34" charset="-120"/>
              </a:rPr>
              <a:t>END:   cos βeff = 184.6 / 189.9   →   βeff ≈ 13.5°</a:t>
            </a:r>
            <a:endParaRPr lang="en-US" sz="1500" dirty="0"/>
          </a:p>
          <a:p>
            <a:pPr indent="0" marL="0">
              <a:lnSpc>
                <a:spcPts val="2600"/>
              </a:lnSpc>
              <a:buNone/>
            </a:pPr>
            <a:r>
              <a:rPr lang="en-US" sz="1500" i="1" dirty="0">
                <a:solidFill>
                  <a:srgbClr val="0E1730"/>
                </a:solidFill>
                <a:latin typeface="Cambria" pitchFamily="34" charset="0"/>
                <a:ea typeface="Cambria" pitchFamily="34" charset="-122"/>
                <a:cs typeface="Cambria" pitchFamily="34" charset="-120"/>
              </a:rPr>
              <a:t>TOP:   veff ≈ 145 mm/ns            →   βeff ≈ 40°</a:t>
            </a:r>
            <a:endParaRPr lang="en-US" sz="1500" dirty="0"/>
          </a:p>
        </p:txBody>
      </p:sp>
      <p:sp>
        <p:nvSpPr>
          <p:cNvPr id="11" name="Shape 9"/>
          <p:cNvSpPr/>
          <p:nvPr/>
        </p:nvSpPr>
        <p:spPr>
          <a:xfrm>
            <a:off x="6812280" y="1572768"/>
            <a:ext cx="4727448" cy="2148840"/>
          </a:xfrm>
          <a:prstGeom prst="roundRect">
            <a:avLst>
              <a:gd name="adj" fmla="val 2128"/>
            </a:avLst>
          </a:prstGeom>
          <a:solidFill>
            <a:srgbClr val="E9F2FA"/>
          </a:solidFill>
          <a:ln/>
        </p:spPr>
      </p:sp>
      <p:sp>
        <p:nvSpPr>
          <p:cNvPr id="12" name="Text 10"/>
          <p:cNvSpPr/>
          <p:nvPr/>
        </p:nvSpPr>
        <p:spPr>
          <a:xfrm>
            <a:off x="7068312" y="1737360"/>
            <a:ext cx="4215384"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KEY IDEA</a:t>
            </a:r>
            <a:endParaRPr lang="en-US" sz="1050" dirty="0"/>
          </a:p>
        </p:txBody>
      </p:sp>
      <p:sp>
        <p:nvSpPr>
          <p:cNvPr id="13" name="Text 11"/>
          <p:cNvSpPr/>
          <p:nvPr/>
        </p:nvSpPr>
        <p:spPr>
          <a:xfrm>
            <a:off x="7068312" y="2029968"/>
            <a:ext cx="4215384" cy="1508760"/>
          </a:xfrm>
          <a:prstGeom prst="rect">
            <a:avLst/>
          </a:prstGeom>
          <a:noFill/>
          <a:ln/>
        </p:spPr>
        <p:txBody>
          <a:bodyPr wrap="square" lIns="0" tIns="0" rIns="0" bIns="0" rtlCol="0" anchor="t"/>
          <a:lstStyle/>
          <a:p>
            <a:pPr indent="0" marL="0">
              <a:lnSpc>
                <a:spcPts val="2000"/>
              </a:lnSpc>
              <a:buNone/>
            </a:pPr>
            <a:r>
              <a:rPr lang="en-US" sz="1450" dirty="0">
                <a:solidFill>
                  <a:srgbClr val="0E1730"/>
                </a:solidFill>
                <a:latin typeface="Calibri" pitchFamily="34" charset="0"/>
                <a:ea typeface="Calibri" pitchFamily="34" charset="-122"/>
                <a:cs typeface="Calibri" pitchFamily="34" charset="-120"/>
              </a:rPr>
              <a:t>END and TOP do not merely read the light in different places — they select different angular families of photons. END is dominated by an almost axial, early population; TOP integrates markedly more diagonal trajectories.</a:t>
            </a:r>
            <a:endParaRPr lang="en-US" sz="1450" dirty="0"/>
          </a:p>
        </p:txBody>
      </p:sp>
      <p:sp>
        <p:nvSpPr>
          <p:cNvPr id="14" name="Shape 12"/>
          <p:cNvSpPr/>
          <p:nvPr/>
        </p:nvSpPr>
        <p:spPr>
          <a:xfrm>
            <a:off x="6812280" y="3931920"/>
            <a:ext cx="4727448" cy="1920240"/>
          </a:xfrm>
          <a:prstGeom prst="roundRect">
            <a:avLst>
              <a:gd name="adj" fmla="val 2381"/>
            </a:avLst>
          </a:prstGeom>
          <a:solidFill>
            <a:srgbClr val="F2F4F8"/>
          </a:solidFill>
          <a:ln/>
        </p:spPr>
      </p:sp>
      <p:sp>
        <p:nvSpPr>
          <p:cNvPr id="15" name="Text 13"/>
          <p:cNvSpPr/>
          <p:nvPr/>
        </p:nvSpPr>
        <p:spPr>
          <a:xfrm>
            <a:off x="7068312" y="4096512"/>
            <a:ext cx="4215384" cy="237744"/>
          </a:xfrm>
          <a:prstGeom prst="rect">
            <a:avLst/>
          </a:prstGeom>
          <a:noFill/>
          <a:ln/>
        </p:spPr>
        <p:txBody>
          <a:bodyPr wrap="square" lIns="0" tIns="0" rIns="0" bIns="0" rtlCol="0" anchor="ctr"/>
          <a:lstStyle/>
          <a:p>
            <a:pPr indent="0" marL="0">
              <a:buNone/>
            </a:pPr>
            <a:r>
              <a:rPr lang="en-US" sz="1050" b="1" spc="130" kern="0" dirty="0">
                <a:solidFill>
                  <a:srgbClr val="5A6478"/>
                </a:solidFill>
                <a:latin typeface="Calibri" pitchFamily="34" charset="0"/>
                <a:ea typeface="Calibri" pitchFamily="34" charset="-122"/>
                <a:cs typeface="Calibri" pitchFamily="34" charset="-120"/>
              </a:rPr>
              <a:t>READ ΒEFF AS A SLOPE, NOT AS A BEAM</a:t>
            </a:r>
            <a:endParaRPr lang="en-US" sz="1050" dirty="0"/>
          </a:p>
        </p:txBody>
      </p:sp>
      <p:sp>
        <p:nvSpPr>
          <p:cNvPr id="16" name="Text 14"/>
          <p:cNvSpPr/>
          <p:nvPr/>
        </p:nvSpPr>
        <p:spPr>
          <a:xfrm>
            <a:off x="7068312" y="4389120"/>
            <a:ext cx="4215384" cy="1280160"/>
          </a:xfrm>
          <a:prstGeom prst="rect">
            <a:avLst/>
          </a:prstGeom>
          <a:noFill/>
          <a:ln/>
        </p:spPr>
        <p:txBody>
          <a:bodyPr wrap="square" lIns="0" tIns="0" rIns="0" bIns="0" rtlCol="0" anchor="t"/>
          <a:lstStyle/>
          <a:p>
            <a:pPr indent="0" marL="0">
              <a:lnSpc>
                <a:spcPts val="2000"/>
              </a:lnSpc>
              <a:buNone/>
            </a:pPr>
            <a:r>
              <a:rPr lang="en-US" sz="1250" dirty="0">
                <a:solidFill>
                  <a:srgbClr val="0E1730"/>
                </a:solidFill>
                <a:latin typeface="Calibri" pitchFamily="34" charset="0"/>
                <a:ea typeface="Calibri" pitchFamily="34" charset="-122"/>
                <a:cs typeface="Calibri" pitchFamily="34" charset="-120"/>
              </a:rPr>
              <a:t>veff is a statistical slope built from the earliest photons, so βeff is the equivalent axial angle of that slope — not evidence of a mono-angular population. Knoll also notes that adding escape surfaces lowers the mean number of reflections.</a:t>
            </a:r>
            <a:endParaRPr lang="en-US" sz="1250" dirty="0"/>
          </a:p>
        </p:txBody>
      </p:sp>
      <p:sp>
        <p:nvSpPr>
          <p:cNvPr id="17" name="Text 15"/>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      |      Knoll Ch. 8 on multiple readout surfaces</a:t>
            </a:r>
            <a:endParaRPr lang="en-US" sz="900" dirty="0"/>
          </a:p>
        </p:txBody>
      </p:sp>
      <p:sp>
        <p:nvSpPr>
          <p:cNvPr id="18" name="Text 16"/>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420624"/>
            <a:ext cx="566928" cy="566928"/>
          </a:xfrm>
          <a:prstGeom prst="ellipse">
            <a:avLst/>
          </a:prstGeom>
          <a:solidFill>
            <a:srgbClr val="1FA5C8"/>
          </a:solidFill>
          <a:ln/>
        </p:spPr>
      </p:sp>
      <p:sp>
        <p:nvSpPr>
          <p:cNvPr id="3" name="Text 1"/>
          <p:cNvSpPr/>
          <p:nvPr/>
        </p:nvSpPr>
        <p:spPr>
          <a:xfrm>
            <a:off x="50292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207008"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STEP 5 — BOUNCE COUNTING</a:t>
            </a:r>
            <a:endParaRPr lang="en-US" sz="1100" dirty="0"/>
          </a:p>
        </p:txBody>
      </p:sp>
      <p:sp>
        <p:nvSpPr>
          <p:cNvPr id="5" name="Text 3"/>
          <p:cNvSpPr/>
          <p:nvPr/>
        </p:nvSpPr>
        <p:spPr>
          <a:xfrm>
            <a:off x="1207008"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Geometry, not the reflector, sets the number of bounces</a:t>
            </a:r>
            <a:endParaRPr lang="en-US" sz="2600" dirty="0"/>
          </a:p>
        </p:txBody>
      </p:sp>
      <p:sp>
        <p:nvSpPr>
          <p:cNvPr id="6" name="Shape 4"/>
          <p:cNvSpPr/>
          <p:nvPr/>
        </p:nvSpPr>
        <p:spPr>
          <a:xfrm>
            <a:off x="685800" y="1572768"/>
            <a:ext cx="5577840" cy="1234440"/>
          </a:xfrm>
          <a:prstGeom prst="roundRect">
            <a:avLst>
              <a:gd name="adj" fmla="val 4444"/>
            </a:avLst>
          </a:prstGeom>
          <a:solidFill>
            <a:srgbClr val="F2F4F8"/>
          </a:solidFill>
          <a:ln/>
        </p:spPr>
      </p:sp>
      <p:sp>
        <p:nvSpPr>
          <p:cNvPr id="7" name="Text 5"/>
          <p:cNvSpPr/>
          <p:nvPr/>
        </p:nvSpPr>
        <p:spPr>
          <a:xfrm>
            <a:off x="941832" y="1572768"/>
            <a:ext cx="5120640" cy="1234440"/>
          </a:xfrm>
          <a:prstGeom prst="rect">
            <a:avLst/>
          </a:prstGeom>
          <a:noFill/>
          <a:ln/>
        </p:spPr>
        <p:txBody>
          <a:bodyPr wrap="square" lIns="0" tIns="0" rIns="0" bIns="0" rtlCol="0" anchor="ctr"/>
          <a:lstStyle/>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Nbounce  ≈  d · tan β / D        (geometric estimate)</a:t>
            </a:r>
            <a:endParaRPr lang="en-US" sz="1550" dirty="0"/>
          </a:p>
        </p:txBody>
      </p:sp>
      <p:sp>
        <p:nvSpPr>
          <p:cNvPr id="8" name="Text 6"/>
          <p:cNvSpPr/>
          <p:nvPr/>
        </p:nvSpPr>
        <p:spPr>
          <a:xfrm>
            <a:off x="685800" y="2926080"/>
            <a:ext cx="5577840" cy="640080"/>
          </a:xfrm>
          <a:prstGeom prst="rect">
            <a:avLst/>
          </a:prstGeom>
          <a:noFill/>
          <a:ln/>
        </p:spPr>
        <p:txBody>
          <a:bodyPr wrap="square" lIns="0" tIns="0" rIns="0" bIns="0" rtlCol="0" anchor="t"/>
          <a:lstStyle/>
          <a:p>
            <a:pPr indent="0" marL="0">
              <a:lnSpc>
                <a:spcPts val="1800"/>
              </a:lnSpc>
              <a:buNone/>
            </a:pPr>
            <a:r>
              <a:rPr lang="en-US" sz="1300" dirty="0">
                <a:solidFill>
                  <a:srgbClr val="0E1730"/>
                </a:solidFill>
                <a:latin typeface="Calibri" pitchFamily="34" charset="0"/>
                <a:ea typeface="Calibri" pitchFamily="34" charset="-122"/>
                <a:cs typeface="Calibri" pitchFamily="34" charset="-120"/>
              </a:rPr>
              <a:t>2D limiting case, for a ray just outside TIR on that wall family: β ≈ 50.7° → tan β ≈ 1.22, travelling d = 700 mm from the centre.</a:t>
            </a:r>
            <a:endParaRPr lang="en-US" sz="1300" dirty="0"/>
          </a:p>
        </p:txBody>
      </p:sp>
      <p:sp>
        <p:nvSpPr>
          <p:cNvPr id="9" name="Shape 7"/>
          <p:cNvSpPr/>
          <p:nvPr/>
        </p:nvSpPr>
        <p:spPr>
          <a:xfrm>
            <a:off x="685800" y="3703320"/>
            <a:ext cx="2697480" cy="1828800"/>
          </a:xfrm>
          <a:prstGeom prst="roundRect">
            <a:avLst>
              <a:gd name="adj" fmla="val 2500"/>
            </a:avLst>
          </a:prstGeom>
          <a:solidFill>
            <a:srgbClr val="E9F2FA"/>
          </a:solidFill>
          <a:ln/>
        </p:spPr>
      </p:sp>
      <p:sp>
        <p:nvSpPr>
          <p:cNvPr id="10" name="Text 8"/>
          <p:cNvSpPr/>
          <p:nvPr/>
        </p:nvSpPr>
        <p:spPr>
          <a:xfrm>
            <a:off x="941832" y="3867912"/>
            <a:ext cx="2185416" cy="256032"/>
          </a:xfrm>
          <a:prstGeom prst="rect">
            <a:avLst/>
          </a:prstGeom>
          <a:noFill/>
          <a:ln/>
        </p:spPr>
        <p:txBody>
          <a:bodyPr wrap="square" lIns="0" tIns="0" rIns="0" bIns="0" rtlCol="0" anchor="ctr"/>
          <a:lstStyle/>
          <a:p>
            <a:pPr indent="0" marL="0">
              <a:buNone/>
            </a:pPr>
            <a:r>
              <a:rPr lang="en-US" sz="1150" b="1" dirty="0">
                <a:solidFill>
                  <a:srgbClr val="5A6478"/>
                </a:solidFill>
                <a:latin typeface="Calibri" pitchFamily="34" charset="0"/>
                <a:ea typeface="Calibri" pitchFamily="34" charset="-122"/>
                <a:cs typeface="Calibri" pitchFamily="34" charset="-120"/>
              </a:rPr>
              <a:t>D = 10 mm</a:t>
            </a:r>
            <a:endParaRPr lang="en-US" sz="1150" dirty="0"/>
          </a:p>
        </p:txBody>
      </p:sp>
      <p:sp>
        <p:nvSpPr>
          <p:cNvPr id="11" name="Text 9"/>
          <p:cNvSpPr/>
          <p:nvPr/>
        </p:nvSpPr>
        <p:spPr>
          <a:xfrm>
            <a:off x="941832" y="4178808"/>
            <a:ext cx="2185416" cy="685800"/>
          </a:xfrm>
          <a:prstGeom prst="rect">
            <a:avLst/>
          </a:prstGeom>
          <a:noFill/>
          <a:ln/>
        </p:spPr>
        <p:txBody>
          <a:bodyPr wrap="square" lIns="0" tIns="0" rIns="0" bIns="0" rtlCol="0" anchor="ctr"/>
          <a:lstStyle/>
          <a:p>
            <a:pPr indent="0" marL="0">
              <a:buNone/>
            </a:pPr>
            <a:r>
              <a:rPr lang="en-US" sz="3200" b="1" dirty="0">
                <a:solidFill>
                  <a:srgbClr val="2E5FA3"/>
                </a:solidFill>
                <a:latin typeface="Cambria" pitchFamily="34" charset="0"/>
                <a:ea typeface="Cambria" pitchFamily="34" charset="-122"/>
                <a:cs typeface="Cambria" pitchFamily="34" charset="-120"/>
              </a:rPr>
              <a:t>≈ 85</a:t>
            </a:r>
            <a:endParaRPr lang="en-US" sz="3200" dirty="0"/>
          </a:p>
        </p:txBody>
      </p:sp>
      <p:sp>
        <p:nvSpPr>
          <p:cNvPr id="12" name="Text 10"/>
          <p:cNvSpPr/>
          <p:nvPr/>
        </p:nvSpPr>
        <p:spPr>
          <a:xfrm>
            <a:off x="941832" y="4919472"/>
            <a:ext cx="2185416"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bounces, thin face</a:t>
            </a:r>
            <a:endParaRPr lang="en-US" sz="1100" dirty="0"/>
          </a:p>
        </p:txBody>
      </p:sp>
      <p:sp>
        <p:nvSpPr>
          <p:cNvPr id="13" name="Shape 11"/>
          <p:cNvSpPr/>
          <p:nvPr/>
        </p:nvSpPr>
        <p:spPr>
          <a:xfrm>
            <a:off x="3566160" y="3703320"/>
            <a:ext cx="2697480" cy="1828800"/>
          </a:xfrm>
          <a:prstGeom prst="roundRect">
            <a:avLst>
              <a:gd name="adj" fmla="val 2500"/>
            </a:avLst>
          </a:prstGeom>
          <a:solidFill>
            <a:srgbClr val="FBF0DE"/>
          </a:solidFill>
          <a:ln/>
        </p:spPr>
      </p:sp>
      <p:sp>
        <p:nvSpPr>
          <p:cNvPr id="14" name="Text 12"/>
          <p:cNvSpPr/>
          <p:nvPr/>
        </p:nvSpPr>
        <p:spPr>
          <a:xfrm>
            <a:off x="3822192" y="3867912"/>
            <a:ext cx="2185416" cy="256032"/>
          </a:xfrm>
          <a:prstGeom prst="rect">
            <a:avLst/>
          </a:prstGeom>
          <a:noFill/>
          <a:ln/>
        </p:spPr>
        <p:txBody>
          <a:bodyPr wrap="square" lIns="0" tIns="0" rIns="0" bIns="0" rtlCol="0" anchor="ctr"/>
          <a:lstStyle/>
          <a:p>
            <a:pPr indent="0" marL="0">
              <a:buNone/>
            </a:pPr>
            <a:r>
              <a:rPr lang="en-US" sz="1150" b="1" dirty="0">
                <a:solidFill>
                  <a:srgbClr val="5A6478"/>
                </a:solidFill>
                <a:latin typeface="Calibri" pitchFamily="34" charset="0"/>
                <a:ea typeface="Calibri" pitchFamily="34" charset="-122"/>
                <a:cs typeface="Calibri" pitchFamily="34" charset="-120"/>
              </a:rPr>
              <a:t>D = 60 mm</a:t>
            </a:r>
            <a:endParaRPr lang="en-US" sz="1150" dirty="0"/>
          </a:p>
        </p:txBody>
      </p:sp>
      <p:sp>
        <p:nvSpPr>
          <p:cNvPr id="15" name="Text 13"/>
          <p:cNvSpPr/>
          <p:nvPr/>
        </p:nvSpPr>
        <p:spPr>
          <a:xfrm>
            <a:off x="3822192" y="4178808"/>
            <a:ext cx="2185416" cy="685800"/>
          </a:xfrm>
          <a:prstGeom prst="rect">
            <a:avLst/>
          </a:prstGeom>
          <a:noFill/>
          <a:ln/>
        </p:spPr>
        <p:txBody>
          <a:bodyPr wrap="square" lIns="0" tIns="0" rIns="0" bIns="0" rtlCol="0" anchor="ctr"/>
          <a:lstStyle/>
          <a:p>
            <a:pPr indent="0" marL="0">
              <a:buNone/>
            </a:pPr>
            <a:r>
              <a:rPr lang="en-US" sz="3200" b="1" dirty="0">
                <a:solidFill>
                  <a:srgbClr val="C97A16"/>
                </a:solidFill>
                <a:latin typeface="Cambria" pitchFamily="34" charset="0"/>
                <a:ea typeface="Cambria" pitchFamily="34" charset="-122"/>
                <a:cs typeface="Cambria" pitchFamily="34" charset="-120"/>
              </a:rPr>
              <a:t>≈ 14</a:t>
            </a:r>
            <a:endParaRPr lang="en-US" sz="3200" dirty="0"/>
          </a:p>
        </p:txBody>
      </p:sp>
      <p:sp>
        <p:nvSpPr>
          <p:cNvPr id="16" name="Text 14"/>
          <p:cNvSpPr/>
          <p:nvPr/>
        </p:nvSpPr>
        <p:spPr>
          <a:xfrm>
            <a:off x="3822192" y="4919472"/>
            <a:ext cx="2185416"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bounces, wide face</a:t>
            </a:r>
            <a:endParaRPr lang="en-US" sz="1100" dirty="0"/>
          </a:p>
        </p:txBody>
      </p:sp>
      <p:sp>
        <p:nvSpPr>
          <p:cNvPr id="17" name="Shape 15"/>
          <p:cNvSpPr/>
          <p:nvPr/>
        </p:nvSpPr>
        <p:spPr>
          <a:xfrm>
            <a:off x="6812280" y="1572768"/>
            <a:ext cx="4727448" cy="2103120"/>
          </a:xfrm>
          <a:prstGeom prst="roundRect">
            <a:avLst>
              <a:gd name="adj" fmla="val 2174"/>
            </a:avLst>
          </a:prstGeom>
          <a:solidFill>
            <a:srgbClr val="E9F2FA"/>
          </a:solidFill>
          <a:ln/>
        </p:spPr>
      </p:sp>
      <p:sp>
        <p:nvSpPr>
          <p:cNvPr id="18" name="Text 16"/>
          <p:cNvSpPr/>
          <p:nvPr/>
        </p:nvSpPr>
        <p:spPr>
          <a:xfrm>
            <a:off x="7068312" y="1737360"/>
            <a:ext cx="4215384"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THE TWO TRANSVERSE DIMENSIONS ARE NOT EQUIVALENT</a:t>
            </a:r>
            <a:endParaRPr lang="en-US" sz="1050" dirty="0"/>
          </a:p>
        </p:txBody>
      </p:sp>
      <p:sp>
        <p:nvSpPr>
          <p:cNvPr id="19" name="Text 17"/>
          <p:cNvSpPr/>
          <p:nvPr/>
        </p:nvSpPr>
        <p:spPr>
          <a:xfrm>
            <a:off x="7068312" y="2029968"/>
            <a:ext cx="4215384" cy="1463040"/>
          </a:xfrm>
          <a:prstGeom prst="rect">
            <a:avLst/>
          </a:prstGeom>
          <a:noFill/>
          <a:ln/>
        </p:spPr>
        <p:txBody>
          <a:bodyPr wrap="square" lIns="0" tIns="0" rIns="0" bIns="0" rtlCol="0" anchor="t"/>
          <a:lstStyle/>
          <a:p>
            <a:pPr indent="0" marL="0">
              <a:lnSpc>
                <a:spcPts val="2000"/>
              </a:lnSpc>
              <a:buNone/>
            </a:pPr>
            <a:r>
              <a:rPr lang="en-US" sz="1450" dirty="0">
                <a:solidFill>
                  <a:srgbClr val="0E1730"/>
                </a:solidFill>
                <a:latin typeface="Calibri" pitchFamily="34" charset="0"/>
                <a:ea typeface="Calibri" pitchFamily="34" charset="-122"/>
                <a:cs typeface="Calibri" pitchFamily="34" charset="-120"/>
              </a:rPr>
              <a:t>A 1400 × 60 × 10 mm bar is thin in one direction and wide in the other. The same photon direction produces six times more reflections against the 10 mm face than against the 60 mm face.</a:t>
            </a:r>
            <a:endParaRPr lang="en-US" sz="1450" dirty="0"/>
          </a:p>
        </p:txBody>
      </p:sp>
      <p:sp>
        <p:nvSpPr>
          <p:cNvPr id="20" name="Shape 18"/>
          <p:cNvSpPr/>
          <p:nvPr/>
        </p:nvSpPr>
        <p:spPr>
          <a:xfrm>
            <a:off x="6812280" y="3977640"/>
            <a:ext cx="4727448" cy="1508760"/>
          </a:xfrm>
          <a:prstGeom prst="roundRect">
            <a:avLst>
              <a:gd name="adj" fmla="val 3636"/>
            </a:avLst>
          </a:prstGeom>
          <a:solidFill>
            <a:srgbClr val="F2F4F8"/>
          </a:solidFill>
          <a:ln/>
        </p:spPr>
      </p:sp>
      <p:sp>
        <p:nvSpPr>
          <p:cNvPr id="21" name="Text 19"/>
          <p:cNvSpPr/>
          <p:nvPr/>
        </p:nvSpPr>
        <p:spPr>
          <a:xfrm>
            <a:off x="7068312" y="3977640"/>
            <a:ext cx="4270248" cy="1508760"/>
          </a:xfrm>
          <a:prstGeom prst="rect">
            <a:avLst/>
          </a:prstGeom>
          <a:noFill/>
          <a:ln/>
        </p:spPr>
        <p:txBody>
          <a:bodyPr wrap="square" lIns="0" tIns="0" rIns="0" bIns="0" rtlCol="0" anchor="ctr"/>
          <a:lstStyle/>
          <a:p>
            <a:pPr indent="0" marL="0">
              <a:lnSpc>
                <a:spcPts val="2600"/>
              </a:lnSpc>
              <a:buNone/>
            </a:pPr>
            <a:r>
              <a:rPr lang="en-US" sz="1600" i="1" dirty="0">
                <a:solidFill>
                  <a:srgbClr val="0E1730"/>
                </a:solidFill>
                <a:latin typeface="Cambria" pitchFamily="34" charset="0"/>
                <a:ea typeface="Cambria" pitchFamily="34" charset="-122"/>
                <a:cs typeface="Cambria" pitchFamily="34" charset="-120"/>
              </a:rPr>
              <a:t>Ny ≈ d|uy| / (W|ux|)</a:t>
            </a:r>
            <a:endParaRPr lang="en-US" sz="1600" dirty="0"/>
          </a:p>
          <a:p>
            <a:pPr indent="0" marL="0">
              <a:lnSpc>
                <a:spcPts val="2600"/>
              </a:lnSpc>
              <a:buNone/>
            </a:pPr>
            <a:r>
              <a:rPr lang="en-US" sz="1600" i="1" dirty="0">
                <a:solidFill>
                  <a:srgbClr val="0E1730"/>
                </a:solidFill>
                <a:latin typeface="Cambria" pitchFamily="34" charset="0"/>
                <a:ea typeface="Cambria" pitchFamily="34" charset="-122"/>
                <a:cs typeface="Cambria" pitchFamily="34" charset="-120"/>
              </a:rPr>
              <a:t>Nz ≈ d|uz| / (T|ux|)</a:t>
            </a:r>
            <a:endParaRPr lang="en-US" sz="1600" dirty="0"/>
          </a:p>
        </p:txBody>
      </p:sp>
      <p:sp>
        <p:nvSpPr>
          <p:cNvPr id="22" name="Text 20"/>
          <p:cNvSpPr/>
          <p:nvPr/>
        </p:nvSpPr>
        <p:spPr>
          <a:xfrm>
            <a:off x="6812280" y="5559552"/>
            <a:ext cx="4727448" cy="548640"/>
          </a:xfrm>
          <a:prstGeom prst="rect">
            <a:avLst/>
          </a:prstGeom>
          <a:noFill/>
          <a:ln/>
        </p:spPr>
        <p:txBody>
          <a:bodyPr wrap="square" lIns="0" tIns="0" rIns="0" bIns="0" rtlCol="0" anchor="t"/>
          <a:lstStyle/>
          <a:p>
            <a:pPr indent="0" marL="0">
              <a:lnSpc>
                <a:spcPts val="1500"/>
              </a:lnSpc>
              <a:buNone/>
            </a:pPr>
            <a:r>
              <a:rPr lang="en-US" sz="1100" dirty="0">
                <a:solidFill>
                  <a:srgbClr val="5A6478"/>
                </a:solidFill>
                <a:latin typeface="Calibri" pitchFamily="34" charset="0"/>
                <a:ea typeface="Calibri" pitchFamily="34" charset="-122"/>
                <a:cs typeface="Calibri" pitchFamily="34" charset="-120"/>
              </a:rPr>
              <a:t>The 3D form is the rigorous one: the integer bounce count also depends on where in the cross-section the photon starts.</a:t>
            </a:r>
            <a:endParaRPr lang="en-US" sz="1100" dirty="0"/>
          </a:p>
        </p:txBody>
      </p:sp>
      <p:sp>
        <p:nvSpPr>
          <p:cNvPr id="23" name="Text 21"/>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24" name="Text 22"/>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420624"/>
            <a:ext cx="566928" cy="566928"/>
          </a:xfrm>
          <a:prstGeom prst="ellipse">
            <a:avLst/>
          </a:prstGeom>
          <a:solidFill>
            <a:srgbClr val="1FA5C8"/>
          </a:solidFill>
          <a:ln/>
        </p:spPr>
      </p:sp>
      <p:sp>
        <p:nvSpPr>
          <p:cNvPr id="3" name="Text 1"/>
          <p:cNvSpPr/>
          <p:nvPr/>
        </p:nvSpPr>
        <p:spPr>
          <a:xfrm>
            <a:off x="50292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207008"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STEP 6 — REFLECTOR LOSSES</a:t>
            </a:r>
            <a:endParaRPr lang="en-US" sz="1100" dirty="0"/>
          </a:p>
        </p:txBody>
      </p:sp>
      <p:sp>
        <p:nvSpPr>
          <p:cNvPr id="5" name="Text 3"/>
          <p:cNvSpPr/>
          <p:nvPr/>
        </p:nvSpPr>
        <p:spPr>
          <a:xfrm>
            <a:off x="1207008"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A 2 % loss per bounce becomes an exponential attenuation</a:t>
            </a:r>
            <a:endParaRPr lang="en-US" sz="2600" dirty="0"/>
          </a:p>
        </p:txBody>
      </p:sp>
      <p:sp>
        <p:nvSpPr>
          <p:cNvPr id="6" name="Shape 4"/>
          <p:cNvSpPr/>
          <p:nvPr/>
        </p:nvSpPr>
        <p:spPr>
          <a:xfrm>
            <a:off x="566928" y="1536192"/>
            <a:ext cx="5577840" cy="1920240"/>
          </a:xfrm>
          <a:prstGeom prst="roundRect">
            <a:avLst>
              <a:gd name="adj" fmla="val 2857"/>
            </a:avLst>
          </a:prstGeom>
          <a:solidFill>
            <a:srgbClr val="F2F4F8"/>
          </a:solidFill>
          <a:ln/>
        </p:spPr>
      </p:sp>
      <p:sp>
        <p:nvSpPr>
          <p:cNvPr id="7" name="Text 5"/>
          <p:cNvSpPr/>
          <p:nvPr/>
        </p:nvSpPr>
        <p:spPr>
          <a:xfrm>
            <a:off x="822960" y="1536192"/>
            <a:ext cx="5120640" cy="1920240"/>
          </a:xfrm>
          <a:prstGeom prst="rect">
            <a:avLst/>
          </a:prstGeom>
          <a:noFill/>
          <a:ln/>
        </p:spPr>
        <p:txBody>
          <a:bodyPr wrap="square" lIns="0" tIns="0" rIns="0" bIns="0" rtlCol="0" anchor="ctr"/>
          <a:lstStyle/>
          <a:p>
            <a:pPr indent="0" marL="0">
              <a:lnSpc>
                <a:spcPts val="2600"/>
              </a:lnSpc>
              <a:buNone/>
            </a:pPr>
            <a:r>
              <a:rPr lang="en-US" sz="1450" i="1" dirty="0">
                <a:solidFill>
                  <a:srgbClr val="0E1730"/>
                </a:solidFill>
                <a:latin typeface="Cambria" pitchFamily="34" charset="0"/>
                <a:ea typeface="Cambria" pitchFamily="34" charset="-122"/>
                <a:cs typeface="Cambria" pitchFamily="34" charset="-120"/>
              </a:rPr>
              <a:t>PR = R^N = exp(N ln R),   N ≈ d tan β / D</a:t>
            </a:r>
            <a:endParaRPr lang="en-US" sz="1450" dirty="0"/>
          </a:p>
          <a:p>
            <a:pPr indent="0" marL="0">
              <a:lnSpc>
                <a:spcPts val="2600"/>
              </a:lnSpc>
              <a:buNone/>
            </a:pPr>
            <a:r>
              <a:rPr lang="en-US" sz="1450" i="1" dirty="0">
                <a:solidFill>
                  <a:srgbClr val="0E1730"/>
                </a:solidFill>
                <a:latin typeface="Cambria" pitchFamily="34" charset="0"/>
                <a:ea typeface="Cambria" pitchFamily="34" charset="-122"/>
                <a:cs typeface="Cambria" pitchFamily="34" charset="-120"/>
              </a:rPr>
              <a:t>PR(d) = exp(−d / Λrefl),   Λrefl = − D / (tan β · ln R)</a:t>
            </a:r>
            <a:endParaRPr lang="en-US" sz="1450" dirty="0"/>
          </a:p>
        </p:txBody>
      </p:sp>
      <p:sp>
        <p:nvSpPr>
          <p:cNvPr id="8" name="Shape 6"/>
          <p:cNvSpPr/>
          <p:nvPr/>
        </p:nvSpPr>
        <p:spPr>
          <a:xfrm>
            <a:off x="566928" y="3611880"/>
            <a:ext cx="2697480" cy="1572768"/>
          </a:xfrm>
          <a:prstGeom prst="roundRect">
            <a:avLst>
              <a:gd name="adj" fmla="val 2907"/>
            </a:avLst>
          </a:prstGeom>
          <a:solidFill>
            <a:srgbClr val="E9F2FA"/>
          </a:solidFill>
          <a:ln/>
        </p:spPr>
      </p:sp>
      <p:sp>
        <p:nvSpPr>
          <p:cNvPr id="9" name="Text 7"/>
          <p:cNvSpPr/>
          <p:nvPr/>
        </p:nvSpPr>
        <p:spPr>
          <a:xfrm>
            <a:off x="822960" y="3776472"/>
            <a:ext cx="2185416" cy="256032"/>
          </a:xfrm>
          <a:prstGeom prst="rect">
            <a:avLst/>
          </a:prstGeom>
          <a:noFill/>
          <a:ln/>
        </p:spPr>
        <p:txBody>
          <a:bodyPr wrap="square" lIns="0" tIns="0" rIns="0" bIns="0" rtlCol="0" anchor="ctr"/>
          <a:lstStyle/>
          <a:p>
            <a:pPr indent="0" marL="0">
              <a:buNone/>
            </a:pPr>
            <a:r>
              <a:rPr lang="en-US" sz="1150" b="1" dirty="0">
                <a:solidFill>
                  <a:srgbClr val="5A6478"/>
                </a:solidFill>
                <a:latin typeface="Calibri" pitchFamily="34" charset="0"/>
                <a:ea typeface="Calibri" pitchFamily="34" charset="-122"/>
                <a:cs typeface="Calibri" pitchFamily="34" charset="-120"/>
              </a:rPr>
              <a:t>Λrefl (β = 50.7°)</a:t>
            </a:r>
            <a:endParaRPr lang="en-US" sz="1150" dirty="0"/>
          </a:p>
        </p:txBody>
      </p:sp>
      <p:sp>
        <p:nvSpPr>
          <p:cNvPr id="10" name="Text 8"/>
          <p:cNvSpPr/>
          <p:nvPr/>
        </p:nvSpPr>
        <p:spPr>
          <a:xfrm>
            <a:off x="822960" y="4087368"/>
            <a:ext cx="2185416" cy="685800"/>
          </a:xfrm>
          <a:prstGeom prst="rect">
            <a:avLst/>
          </a:prstGeom>
          <a:noFill/>
          <a:ln/>
        </p:spPr>
        <p:txBody>
          <a:bodyPr wrap="square" lIns="0" tIns="0" rIns="0" bIns="0" rtlCol="0" anchor="ctr"/>
          <a:lstStyle/>
          <a:p>
            <a:pPr indent="0" marL="0">
              <a:buNone/>
            </a:pPr>
            <a:r>
              <a:rPr lang="en-US" sz="3200" b="1" dirty="0">
                <a:solidFill>
                  <a:srgbClr val="2E5FA3"/>
                </a:solidFill>
                <a:latin typeface="Cambria" pitchFamily="34" charset="0"/>
                <a:ea typeface="Cambria" pitchFamily="34" charset="-122"/>
                <a:cs typeface="Cambria" pitchFamily="34" charset="-120"/>
              </a:rPr>
              <a:t>≈ 0.4 m</a:t>
            </a:r>
            <a:endParaRPr lang="en-US" sz="3200" dirty="0"/>
          </a:p>
        </p:txBody>
      </p:sp>
      <p:sp>
        <p:nvSpPr>
          <p:cNvPr id="11" name="Text 9"/>
          <p:cNvSpPr/>
          <p:nvPr/>
        </p:nvSpPr>
        <p:spPr>
          <a:xfrm>
            <a:off x="822960" y="4828032"/>
            <a:ext cx="2185416"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10 mm face</a:t>
            </a:r>
            <a:endParaRPr lang="en-US" sz="1100" dirty="0"/>
          </a:p>
        </p:txBody>
      </p:sp>
      <p:sp>
        <p:nvSpPr>
          <p:cNvPr id="12" name="Shape 10"/>
          <p:cNvSpPr/>
          <p:nvPr/>
        </p:nvSpPr>
        <p:spPr>
          <a:xfrm>
            <a:off x="3447288" y="3611880"/>
            <a:ext cx="2697480" cy="1572768"/>
          </a:xfrm>
          <a:prstGeom prst="roundRect">
            <a:avLst>
              <a:gd name="adj" fmla="val 2907"/>
            </a:avLst>
          </a:prstGeom>
          <a:solidFill>
            <a:srgbClr val="FBF0DE"/>
          </a:solidFill>
          <a:ln/>
        </p:spPr>
      </p:sp>
      <p:sp>
        <p:nvSpPr>
          <p:cNvPr id="13" name="Text 11"/>
          <p:cNvSpPr/>
          <p:nvPr/>
        </p:nvSpPr>
        <p:spPr>
          <a:xfrm>
            <a:off x="3703320" y="3776472"/>
            <a:ext cx="2185416" cy="256032"/>
          </a:xfrm>
          <a:prstGeom prst="rect">
            <a:avLst/>
          </a:prstGeom>
          <a:noFill/>
          <a:ln/>
        </p:spPr>
        <p:txBody>
          <a:bodyPr wrap="square" lIns="0" tIns="0" rIns="0" bIns="0" rtlCol="0" anchor="ctr"/>
          <a:lstStyle/>
          <a:p>
            <a:pPr indent="0" marL="0">
              <a:buNone/>
            </a:pPr>
            <a:r>
              <a:rPr lang="en-US" sz="1150" b="1" dirty="0">
                <a:solidFill>
                  <a:srgbClr val="5A6478"/>
                </a:solidFill>
                <a:latin typeface="Calibri" pitchFamily="34" charset="0"/>
                <a:ea typeface="Calibri" pitchFamily="34" charset="-122"/>
                <a:cs typeface="Calibri" pitchFamily="34" charset="-120"/>
              </a:rPr>
              <a:t>Λrefl (β = 50.7°)</a:t>
            </a:r>
            <a:endParaRPr lang="en-US" sz="1150" dirty="0"/>
          </a:p>
        </p:txBody>
      </p:sp>
      <p:sp>
        <p:nvSpPr>
          <p:cNvPr id="14" name="Text 12"/>
          <p:cNvSpPr/>
          <p:nvPr/>
        </p:nvSpPr>
        <p:spPr>
          <a:xfrm>
            <a:off x="3703320" y="4087368"/>
            <a:ext cx="2185416" cy="685800"/>
          </a:xfrm>
          <a:prstGeom prst="rect">
            <a:avLst/>
          </a:prstGeom>
          <a:noFill/>
          <a:ln/>
        </p:spPr>
        <p:txBody>
          <a:bodyPr wrap="square" lIns="0" tIns="0" rIns="0" bIns="0" rtlCol="0" anchor="ctr"/>
          <a:lstStyle/>
          <a:p>
            <a:pPr indent="0" marL="0">
              <a:buNone/>
            </a:pPr>
            <a:r>
              <a:rPr lang="en-US" sz="3200" b="1" dirty="0">
                <a:solidFill>
                  <a:srgbClr val="C97A16"/>
                </a:solidFill>
                <a:latin typeface="Cambria" pitchFamily="34" charset="0"/>
                <a:ea typeface="Cambria" pitchFamily="34" charset="-122"/>
                <a:cs typeface="Cambria" pitchFamily="34" charset="-120"/>
              </a:rPr>
              <a:t>≈ 2.4 m</a:t>
            </a:r>
            <a:endParaRPr lang="en-US" sz="3200" dirty="0"/>
          </a:p>
        </p:txBody>
      </p:sp>
      <p:sp>
        <p:nvSpPr>
          <p:cNvPr id="15" name="Text 13"/>
          <p:cNvSpPr/>
          <p:nvPr/>
        </p:nvSpPr>
        <p:spPr>
          <a:xfrm>
            <a:off x="3703320" y="4828032"/>
            <a:ext cx="2185416"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60 mm face</a:t>
            </a:r>
            <a:endParaRPr lang="en-US" sz="1100" dirty="0"/>
          </a:p>
        </p:txBody>
      </p:sp>
      <p:sp>
        <p:nvSpPr>
          <p:cNvPr id="16" name="Text 14"/>
          <p:cNvSpPr/>
          <p:nvPr/>
        </p:nvSpPr>
        <p:spPr>
          <a:xfrm>
            <a:off x="566928" y="5349240"/>
            <a:ext cx="5577840" cy="777240"/>
          </a:xfrm>
          <a:prstGeom prst="rect">
            <a:avLst/>
          </a:prstGeom>
          <a:noFill/>
          <a:ln/>
        </p:spPr>
        <p:txBody>
          <a:bodyPr wrap="square" lIns="0" tIns="0" rIns="0" bIns="0" rtlCol="0" anchor="t"/>
          <a:lstStyle/>
          <a:p>
            <a:pPr indent="0" marL="0">
              <a:lnSpc>
                <a:spcPts val="2000"/>
              </a:lnSpc>
              <a:buNone/>
            </a:pPr>
            <a:r>
              <a:rPr lang="en-US" sz="1400" i="1" dirty="0">
                <a:solidFill>
                  <a:srgbClr val="0E1730"/>
                </a:solidFill>
                <a:latin typeface="Cambria" pitchFamily="34" charset="0"/>
                <a:ea typeface="Cambria" pitchFamily="34" charset="-122"/>
                <a:cs typeface="Cambria" pitchFamily="34" charset="-120"/>
              </a:rPr>
              <a:t>These are not attenuation lengths of Vikuiti. Reflector attenuation is reflectivity × geometry × photon direction, and both numbers are conditioned on the angle chosen above.</a:t>
            </a:r>
            <a:endParaRPr lang="en-US" sz="1400" dirty="0"/>
          </a:p>
        </p:txBody>
      </p:sp>
      <p:graphicFrame>
        <p:nvGraphicFramePr>
          <p:cNvPr id="17" name="Chart 0" descr=""/>
          <p:cNvGraphicFramePr/>
          <p:nvPr/>
        </p:nvGraphicFramePr>
        <p:xfrm>
          <a:off x="6492240" y="1536192"/>
          <a:ext cx="5029200" cy="37490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6492240" y="5394960"/>
            <a:ext cx="5029200" cy="365760"/>
          </a:xfrm>
          <a:prstGeom prst="rect">
            <a:avLst/>
          </a:prstGeom>
          <a:noFill/>
          <a:ln/>
        </p:spPr>
        <p:txBody>
          <a:bodyPr wrap="square" lIns="0" tIns="0" rIns="0" bIns="0" rtlCol="0" anchor="ctr"/>
          <a:lstStyle/>
          <a:p>
            <a:pPr algn="ctr" indent="0" marL="0">
              <a:buNone/>
            </a:pPr>
            <a:r>
              <a:rPr lang="en-US" sz="1300" i="1" dirty="0">
                <a:solidFill>
                  <a:srgbClr val="2E5FA3"/>
                </a:solidFill>
                <a:latin typeface="Cambria" pitchFamily="34" charset="0"/>
                <a:ea typeface="Cambria" pitchFamily="34" charset="-122"/>
                <a:cs typeface="Cambria" pitchFamily="34" charset="-120"/>
              </a:rPr>
              <a:t>0.98¹ = 0.98   ·   0.98¹⁰ = 0.82   ·   0.98⁵⁰ = 0.36   ·   0.98¹⁰⁰ = 0.13</a:t>
            </a:r>
            <a:endParaRPr lang="en-US" sz="1300" dirty="0"/>
          </a:p>
        </p:txBody>
      </p:sp>
      <p:sp>
        <p:nvSpPr>
          <p:cNvPr id="19" name="Text 16"/>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20" name="Text 17"/>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420624"/>
            <a:ext cx="566928" cy="566928"/>
          </a:xfrm>
          <a:prstGeom prst="ellipse">
            <a:avLst/>
          </a:prstGeom>
          <a:solidFill>
            <a:srgbClr val="1FA5C8"/>
          </a:solidFill>
          <a:ln/>
        </p:spPr>
      </p:sp>
      <p:sp>
        <p:nvSpPr>
          <p:cNvPr id="3" name="Text 1"/>
          <p:cNvSpPr/>
          <p:nvPr/>
        </p:nvSpPr>
        <p:spPr>
          <a:xfrm>
            <a:off x="50292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p:nvPr/>
        </p:nvSpPr>
        <p:spPr>
          <a:xfrm>
            <a:off x="1207008"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STEP 7 — MATERIAL CHOICE</a:t>
            </a:r>
            <a:endParaRPr lang="en-US" sz="1100" dirty="0"/>
          </a:p>
        </p:txBody>
      </p:sp>
      <p:sp>
        <p:nvSpPr>
          <p:cNvPr id="5" name="Text 3"/>
          <p:cNvSpPr/>
          <p:nvPr/>
        </p:nvSpPr>
        <p:spPr>
          <a:xfrm>
            <a:off x="1207008"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Bulk attenuation and decay time pull in opposite directions</a:t>
            </a:r>
            <a:endParaRPr lang="en-US" sz="2600" dirty="0"/>
          </a:p>
        </p:txBody>
      </p:sp>
      <p:sp>
        <p:nvSpPr>
          <p:cNvPr id="6" name="Shape 4"/>
          <p:cNvSpPr/>
          <p:nvPr/>
        </p:nvSpPr>
        <p:spPr>
          <a:xfrm>
            <a:off x="566928" y="1536192"/>
            <a:ext cx="5486400" cy="1234440"/>
          </a:xfrm>
          <a:prstGeom prst="roundRect">
            <a:avLst>
              <a:gd name="adj" fmla="val 4444"/>
            </a:avLst>
          </a:prstGeom>
          <a:solidFill>
            <a:srgbClr val="F2F4F8"/>
          </a:solidFill>
          <a:ln/>
        </p:spPr>
      </p:sp>
      <p:sp>
        <p:nvSpPr>
          <p:cNvPr id="7" name="Text 5"/>
          <p:cNvSpPr/>
          <p:nvPr/>
        </p:nvSpPr>
        <p:spPr>
          <a:xfrm>
            <a:off x="822960" y="1536192"/>
            <a:ext cx="5029200" cy="1234440"/>
          </a:xfrm>
          <a:prstGeom prst="rect">
            <a:avLst/>
          </a:prstGeom>
          <a:noFill/>
          <a:ln/>
        </p:spPr>
        <p:txBody>
          <a:bodyPr wrap="square" lIns="0" tIns="0" rIns="0" bIns="0" rtlCol="0" anchor="ctr"/>
          <a:lstStyle/>
          <a:p>
            <a:pPr indent="0" marL="0">
              <a:lnSpc>
                <a:spcPts val="2600"/>
              </a:lnSpc>
              <a:buNone/>
            </a:pPr>
            <a:r>
              <a:rPr lang="en-US" sz="1500" i="1" dirty="0">
                <a:solidFill>
                  <a:srgbClr val="0E1730"/>
                </a:solidFill>
                <a:latin typeface="Cambria" pitchFamily="34" charset="0"/>
                <a:ea typeface="Cambria" pitchFamily="34" charset="-122"/>
                <a:cs typeface="Cambria" pitchFamily="34" charset="-120"/>
              </a:rPr>
              <a:t>s = d / |ux|    →    Pbulk(ux) = exp( − d / (λatt |ux|) )</a:t>
            </a:r>
            <a:endParaRPr lang="en-US" sz="1500" dirty="0"/>
          </a:p>
        </p:txBody>
      </p:sp>
      <p:sp>
        <p:nvSpPr>
          <p:cNvPr id="8" name="Text 6"/>
          <p:cNvSpPr/>
          <p:nvPr/>
        </p:nvSpPr>
        <p:spPr>
          <a:xfrm>
            <a:off x="566928" y="2880360"/>
            <a:ext cx="5486400" cy="548640"/>
          </a:xfrm>
          <a:prstGeom prst="rect">
            <a:avLst/>
          </a:prstGeom>
          <a:noFill/>
          <a:ln/>
        </p:spPr>
        <p:txBody>
          <a:bodyPr wrap="square" lIns="0" tIns="0" rIns="0" bIns="0" rtlCol="0" anchor="t"/>
          <a:lstStyle/>
          <a:p>
            <a:pPr indent="0" marL="0">
              <a:lnSpc>
                <a:spcPts val="1700"/>
              </a:lnSpc>
              <a:buNone/>
            </a:pPr>
            <a:r>
              <a:rPr lang="en-US" sz="1250" i="1" dirty="0">
                <a:solidFill>
                  <a:srgbClr val="5A6478"/>
                </a:solidFill>
                <a:latin typeface="Calibri" pitchFamily="34" charset="0"/>
                <a:ea typeface="Calibri" pitchFamily="34" charset="-122"/>
                <a:cs typeface="Calibri" pitchFamily="34" charset="-120"/>
              </a:rPr>
              <a:t>The familiar exp(−70/λatt) at the bar centre is the axial best case, |ux| = 1. Every diagonal ray travels further and survives less.</a:t>
            </a:r>
            <a:endParaRPr lang="en-US" sz="1250" dirty="0"/>
          </a:p>
        </p:txBody>
      </p:sp>
      <p:graphicFrame>
        <p:nvGraphicFramePr>
          <p:cNvPr id="9" name="Chart 0" descr=""/>
          <p:cNvGraphicFramePr/>
          <p:nvPr/>
        </p:nvGraphicFramePr>
        <p:xfrm>
          <a:off x="566928" y="3429000"/>
          <a:ext cx="5486400" cy="23774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446520" y="1536192"/>
            <a:ext cx="5093208" cy="2103120"/>
          </a:xfrm>
          <a:prstGeom prst="roundRect">
            <a:avLst>
              <a:gd name="adj" fmla="val 2174"/>
            </a:avLst>
          </a:prstGeom>
          <a:solidFill>
            <a:srgbClr val="E9F2FA"/>
          </a:solidFill>
          <a:ln/>
        </p:spPr>
      </p:sp>
      <p:sp>
        <p:nvSpPr>
          <p:cNvPr id="11" name="Text 8"/>
          <p:cNvSpPr/>
          <p:nvPr/>
        </p:nvSpPr>
        <p:spPr>
          <a:xfrm>
            <a:off x="6702552" y="1700784"/>
            <a:ext cx="4581144" cy="237744"/>
          </a:xfrm>
          <a:prstGeom prst="rect">
            <a:avLst/>
          </a:prstGeom>
          <a:noFill/>
          <a:ln/>
        </p:spPr>
        <p:txBody>
          <a:bodyPr wrap="square" lIns="0" tIns="0" rIns="0" bIns="0" rtlCol="0" anchor="ctr"/>
          <a:lstStyle/>
          <a:p>
            <a:pPr indent="0" marL="0">
              <a:buNone/>
            </a:pPr>
            <a:r>
              <a:rPr lang="en-US" sz="1050" b="1" spc="130" kern="0" dirty="0">
                <a:solidFill>
                  <a:srgbClr val="2E5FA3"/>
                </a:solidFill>
                <a:latin typeface="Calibri" pitchFamily="34" charset="0"/>
                <a:ea typeface="Calibri" pitchFamily="34" charset="-122"/>
                <a:cs typeface="Calibri" pitchFamily="34" charset="-120"/>
              </a:rPr>
              <a:t>NAPKIN PREDICTION, MADE BEFORE THE RUN</a:t>
            </a:r>
            <a:endParaRPr lang="en-US" sz="1050" dirty="0"/>
          </a:p>
        </p:txBody>
      </p:sp>
      <p:sp>
        <p:nvSpPr>
          <p:cNvPr id="12" name="Text 9"/>
          <p:cNvSpPr/>
          <p:nvPr/>
        </p:nvSpPr>
        <p:spPr>
          <a:xfrm>
            <a:off x="6702552" y="1993392"/>
            <a:ext cx="4581144" cy="1463040"/>
          </a:xfrm>
          <a:prstGeom prst="rect">
            <a:avLst/>
          </a:prstGeom>
          <a:noFill/>
          <a:ln/>
        </p:spPr>
        <p:txBody>
          <a:bodyPr wrap="square" lIns="0" tIns="0" rIns="0" bIns="0" rtlCol="0" anchor="t"/>
          <a:lstStyle/>
          <a:p>
            <a:pPr indent="0" marL="0">
              <a:lnSpc>
                <a:spcPts val="2000"/>
              </a:lnSpc>
              <a:buNone/>
            </a:pPr>
            <a:r>
              <a:rPr lang="en-US" sz="1450" dirty="0">
                <a:solidFill>
                  <a:srgbClr val="0E1730"/>
                </a:solidFill>
                <a:latin typeface="Calibri" pitchFamily="34" charset="0"/>
                <a:ea typeface="Calibri" pitchFamily="34" charset="-122"/>
                <a:cs typeface="Calibri" pitchFamily="34" charset="-120"/>
              </a:rPr>
              <a:t>EJ-200 must deliver the most light to the ends (largest λatt).</a:t>
            </a:r>
            <a:endParaRPr lang="en-US" sz="1450" dirty="0"/>
          </a:p>
          <a:p>
            <a:pPr indent="0" marL="0">
              <a:lnSpc>
                <a:spcPts val="2000"/>
              </a:lnSpc>
              <a:buNone/>
            </a:pPr>
            <a:r>
              <a:rPr lang="en-US" sz="1450" dirty="0">
                <a:solidFill>
                  <a:srgbClr val="0E1730"/>
                </a:solidFill>
                <a:latin typeface="Calibri" pitchFamily="34" charset="0"/>
                <a:ea typeface="Calibri" pitchFamily="34" charset="-122"/>
                <a:cs typeface="Calibri" pitchFamily="34" charset="-120"/>
              </a:rPr>
              <a:t>EJ-230 must lose the most light, but its faster kinetics (τd = 1.5 ns vs 2.1 ns) should win on timing.</a:t>
            </a:r>
            <a:endParaRPr lang="en-US" sz="1450" dirty="0"/>
          </a:p>
        </p:txBody>
      </p:sp>
      <p:sp>
        <p:nvSpPr>
          <p:cNvPr id="13" name="Shape 10"/>
          <p:cNvSpPr/>
          <p:nvPr/>
        </p:nvSpPr>
        <p:spPr>
          <a:xfrm>
            <a:off x="6446520" y="3840480"/>
            <a:ext cx="5093208" cy="1965960"/>
          </a:xfrm>
          <a:prstGeom prst="roundRect">
            <a:avLst>
              <a:gd name="adj" fmla="val 2326"/>
            </a:avLst>
          </a:prstGeom>
          <a:solidFill>
            <a:srgbClr val="FBF0DE"/>
          </a:solidFill>
          <a:ln/>
        </p:spPr>
      </p:sp>
      <p:sp>
        <p:nvSpPr>
          <p:cNvPr id="14" name="Text 11"/>
          <p:cNvSpPr/>
          <p:nvPr/>
        </p:nvSpPr>
        <p:spPr>
          <a:xfrm>
            <a:off x="6702552" y="4005072"/>
            <a:ext cx="4581144"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GEANT4</a:t>
            </a:r>
            <a:endParaRPr lang="en-US" sz="1050" dirty="0"/>
          </a:p>
        </p:txBody>
      </p:sp>
      <p:sp>
        <p:nvSpPr>
          <p:cNvPr id="15" name="Text 12"/>
          <p:cNvSpPr/>
          <p:nvPr/>
        </p:nvSpPr>
        <p:spPr>
          <a:xfrm>
            <a:off x="6702552" y="4297680"/>
            <a:ext cx="4581144" cy="132588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Npe:  EJ-200  &gt;  EJ-204  &gt;  EJ-230</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σt:    EJ-230  &lt;  EJ-204  &lt;  EJ-200</a:t>
            </a:r>
            <a:endParaRPr lang="en-US" sz="1400" dirty="0"/>
          </a:p>
          <a:p>
            <a:pPr indent="0" marL="0">
              <a:lnSpc>
                <a:spcPts val="2000"/>
              </a:lnSpc>
              <a:buNone/>
            </a:pP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Both orderings reproduced, in the predicted directions — the curves are on the next slide.</a:t>
            </a:r>
            <a:endParaRPr lang="en-US" sz="1400" dirty="0"/>
          </a:p>
        </p:txBody>
      </p:sp>
      <p:sp>
        <p:nvSpPr>
          <p:cNvPr id="16" name="Text 13"/>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17" name="Text 14"/>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PREDICTIVE VALIDATION</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The ordering was predicted, then measured</a:t>
            </a:r>
            <a:endParaRPr lang="en-US" sz="2600" dirty="0"/>
          </a:p>
        </p:txBody>
      </p:sp>
      <p:sp>
        <p:nvSpPr>
          <p:cNvPr id="4" name="Shape 2"/>
          <p:cNvSpPr/>
          <p:nvPr/>
        </p:nvSpPr>
        <p:spPr>
          <a:xfrm>
            <a:off x="566928" y="1536192"/>
            <a:ext cx="5486400" cy="3977640"/>
          </a:xfrm>
          <a:prstGeom prst="roundRect">
            <a:avLst>
              <a:gd name="adj" fmla="val 1149"/>
            </a:avLst>
          </a:prstGeom>
          <a:solidFill>
            <a:srgbClr val="FFFFFF"/>
          </a:solidFill>
          <a:ln w="15875">
            <a:solidFill>
              <a:srgbClr val="1FA5C8"/>
            </a:solidFill>
            <a:prstDash val="dash"/>
          </a:ln>
        </p:spPr>
      </p:sp>
      <p:sp>
        <p:nvSpPr>
          <p:cNvPr id="5" name="Text 3"/>
          <p:cNvSpPr/>
          <p:nvPr/>
        </p:nvSpPr>
        <p:spPr>
          <a:xfrm>
            <a:off x="841248" y="1792224"/>
            <a:ext cx="4937760" cy="320040"/>
          </a:xfrm>
          <a:prstGeom prst="rect">
            <a:avLst/>
          </a:prstGeom>
          <a:noFill/>
          <a:ln/>
        </p:spPr>
        <p:txBody>
          <a:bodyPr wrap="square" lIns="0" tIns="0" rIns="0" bIns="0" rtlCol="0" anchor="ctr"/>
          <a:lstStyle/>
          <a:p>
            <a:pPr algn="ctr" indent="0" marL="0">
              <a:buNone/>
            </a:pPr>
            <a:r>
              <a:rPr lang="en-US" sz="1700" b="1" dirty="0">
                <a:solidFill>
                  <a:srgbClr val="0E1730"/>
                </a:solidFill>
                <a:latin typeface="Cambria" pitchFamily="34" charset="0"/>
                <a:ea typeface="Cambria" pitchFamily="34" charset="-122"/>
                <a:cs typeface="Cambria" pitchFamily="34" charset="-120"/>
              </a:rPr>
              <a:t>Npe(x)   ·   EJ-200 / EJ-204 / EJ-230</a:t>
            </a:r>
            <a:endParaRPr lang="en-US" sz="1700" dirty="0"/>
          </a:p>
        </p:txBody>
      </p:sp>
      <p:sp>
        <p:nvSpPr>
          <p:cNvPr id="6" name="Text 4"/>
          <p:cNvSpPr/>
          <p:nvPr/>
        </p:nvSpPr>
        <p:spPr>
          <a:xfrm>
            <a:off x="886968" y="4553712"/>
            <a:ext cx="4846320" cy="731520"/>
          </a:xfrm>
          <a:prstGeom prst="rect">
            <a:avLst/>
          </a:prstGeom>
          <a:noFill/>
          <a:ln/>
        </p:spPr>
        <p:txBody>
          <a:bodyPr wrap="square" lIns="0" tIns="0" rIns="0" bIns="0" rtlCol="0" anchor="ctr"/>
          <a:lstStyle/>
          <a:p>
            <a:pPr algn="ctr" indent="0" marL="0">
              <a:lnSpc>
                <a:spcPts val="1700"/>
              </a:lnSpc>
              <a:buNone/>
            </a:pPr>
            <a:r>
              <a:rPr lang="en-US" sz="1200" dirty="0">
                <a:solidFill>
                  <a:srgbClr val="5A6478"/>
                </a:solidFill>
                <a:latin typeface="Calibri" pitchFamily="34" charset="0"/>
                <a:ea typeface="Calibri" pitchFamily="34" charset="-122"/>
                <a:cs typeface="Calibri" pitchFamily="34" charset="-120"/>
              </a:rPr>
              <a:t>Insert the light-yield-versus-position curves from the END + Vikuiti campaign. The napkin predicts the ordering EJ-200 &gt; EJ-204 &gt; EJ-230 at every x, and a steeper fall for the shorter λatt.</a:t>
            </a:r>
            <a:endParaRPr lang="en-US" sz="1200" dirty="0"/>
          </a:p>
        </p:txBody>
      </p:sp>
      <p:sp>
        <p:nvSpPr>
          <p:cNvPr id="7" name="Shape 5"/>
          <p:cNvSpPr/>
          <p:nvPr/>
        </p:nvSpPr>
        <p:spPr>
          <a:xfrm>
            <a:off x="6446520" y="1536192"/>
            <a:ext cx="5093208" cy="3977640"/>
          </a:xfrm>
          <a:prstGeom prst="roundRect">
            <a:avLst>
              <a:gd name="adj" fmla="val 1149"/>
            </a:avLst>
          </a:prstGeom>
          <a:solidFill>
            <a:srgbClr val="FFFFFF"/>
          </a:solidFill>
          <a:ln w="15875">
            <a:solidFill>
              <a:srgbClr val="1FA5C8"/>
            </a:solidFill>
            <a:prstDash val="dash"/>
          </a:ln>
        </p:spPr>
      </p:sp>
      <p:sp>
        <p:nvSpPr>
          <p:cNvPr id="8" name="Text 6"/>
          <p:cNvSpPr/>
          <p:nvPr/>
        </p:nvSpPr>
        <p:spPr>
          <a:xfrm>
            <a:off x="6720840" y="1792224"/>
            <a:ext cx="4544568" cy="320040"/>
          </a:xfrm>
          <a:prstGeom prst="rect">
            <a:avLst/>
          </a:prstGeom>
          <a:noFill/>
          <a:ln/>
        </p:spPr>
        <p:txBody>
          <a:bodyPr wrap="square" lIns="0" tIns="0" rIns="0" bIns="0" rtlCol="0" anchor="ctr"/>
          <a:lstStyle/>
          <a:p>
            <a:pPr algn="ctr" indent="0" marL="0">
              <a:buNone/>
            </a:pPr>
            <a:r>
              <a:rPr lang="en-US" sz="1700" b="1" dirty="0">
                <a:solidFill>
                  <a:srgbClr val="0E1730"/>
                </a:solidFill>
                <a:latin typeface="Cambria" pitchFamily="34" charset="0"/>
                <a:ea typeface="Cambria" pitchFamily="34" charset="-122"/>
                <a:cs typeface="Cambria" pitchFamily="34" charset="-120"/>
              </a:rPr>
              <a:t>σ(T0)(x)   ·   EJ-200 / EJ-204 / EJ-230</a:t>
            </a:r>
            <a:endParaRPr lang="en-US" sz="1700" dirty="0"/>
          </a:p>
        </p:txBody>
      </p:sp>
      <p:sp>
        <p:nvSpPr>
          <p:cNvPr id="9" name="Text 7"/>
          <p:cNvSpPr/>
          <p:nvPr/>
        </p:nvSpPr>
        <p:spPr>
          <a:xfrm>
            <a:off x="6766560" y="4553712"/>
            <a:ext cx="4453128" cy="731520"/>
          </a:xfrm>
          <a:prstGeom prst="rect">
            <a:avLst/>
          </a:prstGeom>
          <a:noFill/>
          <a:ln/>
        </p:spPr>
        <p:txBody>
          <a:bodyPr wrap="square" lIns="0" tIns="0" rIns="0" bIns="0" rtlCol="0" anchor="ctr"/>
          <a:lstStyle/>
          <a:p>
            <a:pPr algn="ctr" indent="0" marL="0">
              <a:lnSpc>
                <a:spcPts val="1700"/>
              </a:lnSpc>
              <a:buNone/>
            </a:pPr>
            <a:r>
              <a:rPr lang="en-US" sz="1200" dirty="0">
                <a:solidFill>
                  <a:srgbClr val="5A6478"/>
                </a:solidFill>
                <a:latin typeface="Calibri" pitchFamily="34" charset="0"/>
                <a:ea typeface="Calibri" pitchFamily="34" charset="-122"/>
                <a:cs typeface="Calibri" pitchFamily="34" charset="-120"/>
              </a:rPr>
              <a:t>Insert the timing-resolution-versus-position curves from the same campaign. The napkin predicts the opposite ordering, EJ-230 &lt; EJ-204 &lt; EJ-200, driven by τd.</a:t>
            </a:r>
            <a:endParaRPr lang="en-US" sz="1200" dirty="0"/>
          </a:p>
        </p:txBody>
      </p:sp>
      <p:sp>
        <p:nvSpPr>
          <p:cNvPr id="10" name="Text 8"/>
          <p:cNvSpPr/>
          <p:nvPr/>
        </p:nvSpPr>
        <p:spPr>
          <a:xfrm>
            <a:off x="566928" y="5669280"/>
            <a:ext cx="10972800" cy="548640"/>
          </a:xfrm>
          <a:prstGeom prst="rect">
            <a:avLst/>
          </a:prstGeom>
          <a:noFill/>
          <a:ln/>
        </p:spPr>
        <p:txBody>
          <a:bodyPr wrap="square" lIns="0" tIns="0" rIns="0" bIns="0" rtlCol="0" anchor="t"/>
          <a:lstStyle/>
          <a:p>
            <a:pPr indent="0" marL="0">
              <a:lnSpc>
                <a:spcPts val="2100"/>
              </a:lnSpc>
              <a:buNone/>
            </a:pPr>
            <a:r>
              <a:rPr lang="en-US" sz="1600" i="1" dirty="0">
                <a:solidFill>
                  <a:srgbClr val="2E5FA3"/>
                </a:solidFill>
                <a:latin typeface="Cambria" pitchFamily="34" charset="0"/>
                <a:ea typeface="Cambria" pitchFamily="34" charset="-122"/>
                <a:cs typeface="Cambria" pitchFamily="34" charset="-120"/>
              </a:rPr>
              <a:t>Two figures, two orderings, opposite directions — both written down before the Monte Carlo was run. This is the difference between illustrating a simulation and validating a prediction.</a:t>
            </a:r>
            <a:endParaRPr lang="en-US" sz="1600" dirty="0"/>
          </a:p>
        </p:txBody>
      </p:sp>
      <p:sp>
        <p:nvSpPr>
          <p:cNvPr id="11" name="Text 9"/>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12" name="Text 10"/>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CLOSING THE CHAIN</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Photon budget: multiply the factors and check the scale</a:t>
            </a:r>
            <a:endParaRPr lang="en-US" sz="2600" dirty="0"/>
          </a:p>
        </p:txBody>
      </p:sp>
      <p:sp>
        <p:nvSpPr>
          <p:cNvPr id="4" name="Shape 2"/>
          <p:cNvSpPr/>
          <p:nvPr/>
        </p:nvSpPr>
        <p:spPr>
          <a:xfrm>
            <a:off x="566928" y="1572768"/>
            <a:ext cx="2084832" cy="1417320"/>
          </a:xfrm>
          <a:prstGeom prst="roundRect">
            <a:avLst>
              <a:gd name="adj" fmla="val 3226"/>
            </a:avLst>
          </a:prstGeom>
          <a:solidFill>
            <a:srgbClr val="F2F4F8"/>
          </a:solidFill>
          <a:ln/>
        </p:spPr>
      </p:sp>
      <p:sp>
        <p:nvSpPr>
          <p:cNvPr id="5" name="Text 3"/>
          <p:cNvSpPr/>
          <p:nvPr/>
        </p:nvSpPr>
        <p:spPr>
          <a:xfrm>
            <a:off x="676656" y="1572768"/>
            <a:ext cx="1865376" cy="1417320"/>
          </a:xfrm>
          <a:prstGeom prst="rect">
            <a:avLst/>
          </a:prstGeom>
          <a:noFill/>
          <a:ln/>
        </p:spPr>
        <p:txBody>
          <a:bodyPr wrap="square" lIns="0" tIns="0" rIns="0" bIns="0" rtlCol="0" anchor="ctr"/>
          <a:lstStyle/>
          <a:p>
            <a:pPr algn="ctr" indent="0" marL="0">
              <a:lnSpc>
                <a:spcPts val="2100"/>
              </a:lnSpc>
              <a:buNone/>
            </a:pPr>
            <a:r>
              <a:rPr lang="en-US" sz="1800" b="1" dirty="0">
                <a:solidFill>
                  <a:srgbClr val="0E1730"/>
                </a:solidFill>
                <a:latin typeface="Cambria" pitchFamily="34" charset="0"/>
                <a:ea typeface="Cambria" pitchFamily="34" charset="-122"/>
                <a:cs typeface="Cambria" pitchFamily="34" charset="-120"/>
              </a:rPr>
              <a:t>1.94 × 10⁴</a:t>
            </a:r>
            <a:endParaRPr lang="en-US" sz="1800" dirty="0"/>
          </a:p>
          <a:p>
            <a:pPr algn="ctr" indent="0" marL="0">
              <a:lnSpc>
                <a:spcPts val="2100"/>
              </a:lnSpc>
              <a:buNone/>
            </a:pPr>
            <a:r>
              <a:rPr lang="en-US" sz="1000" dirty="0">
                <a:solidFill>
                  <a:srgbClr val="5A6478"/>
                </a:solidFill>
                <a:latin typeface="Calibri" pitchFamily="34" charset="0"/>
                <a:ea typeface="Calibri" pitchFamily="34" charset="-122"/>
                <a:cs typeface="Calibri" pitchFamily="34" charset="-120"/>
              </a:rPr>
              <a:t>photons produced</a:t>
            </a:r>
            <a:endParaRPr lang="en-US" sz="1800" dirty="0"/>
          </a:p>
        </p:txBody>
      </p:sp>
      <p:sp>
        <p:nvSpPr>
          <p:cNvPr id="6" name="Shape 4"/>
          <p:cNvSpPr/>
          <p:nvPr/>
        </p:nvSpPr>
        <p:spPr>
          <a:xfrm>
            <a:off x="2816352" y="1572768"/>
            <a:ext cx="2084832" cy="1417320"/>
          </a:xfrm>
          <a:prstGeom prst="roundRect">
            <a:avLst>
              <a:gd name="adj" fmla="val 3226"/>
            </a:avLst>
          </a:prstGeom>
          <a:solidFill>
            <a:srgbClr val="F2F4F8"/>
          </a:solidFill>
          <a:ln/>
        </p:spPr>
      </p:sp>
      <p:sp>
        <p:nvSpPr>
          <p:cNvPr id="7" name="Text 5"/>
          <p:cNvSpPr/>
          <p:nvPr/>
        </p:nvSpPr>
        <p:spPr>
          <a:xfrm>
            <a:off x="2926080" y="1572768"/>
            <a:ext cx="1865376" cy="1417320"/>
          </a:xfrm>
          <a:prstGeom prst="rect">
            <a:avLst/>
          </a:prstGeom>
          <a:noFill/>
          <a:ln/>
        </p:spPr>
        <p:txBody>
          <a:bodyPr wrap="square" lIns="0" tIns="0" rIns="0" bIns="0" rtlCol="0" anchor="ctr"/>
          <a:lstStyle/>
          <a:p>
            <a:pPr algn="ctr" indent="0" marL="0">
              <a:lnSpc>
                <a:spcPts val="2100"/>
              </a:lnSpc>
              <a:buNone/>
            </a:pPr>
            <a:r>
              <a:rPr lang="en-US" sz="1800" b="1" dirty="0">
                <a:solidFill>
                  <a:srgbClr val="0E1730"/>
                </a:solidFill>
                <a:latin typeface="Cambria" pitchFamily="34" charset="0"/>
                <a:ea typeface="Cambria" pitchFamily="34" charset="-122"/>
                <a:cs typeface="Cambria" pitchFamily="34" charset="-120"/>
              </a:rPr>
              <a:t>× 0.274</a:t>
            </a:r>
            <a:endParaRPr lang="en-US" sz="1800" dirty="0"/>
          </a:p>
          <a:p>
            <a:pPr algn="ctr" indent="0" marL="0">
              <a:lnSpc>
                <a:spcPts val="2100"/>
              </a:lnSpc>
              <a:buNone/>
            </a:pPr>
            <a:r>
              <a:rPr lang="en-US" sz="1000" dirty="0">
                <a:solidFill>
                  <a:srgbClr val="5A6478"/>
                </a:solidFill>
                <a:latin typeface="Calibri" pitchFamily="34" charset="0"/>
                <a:ea typeface="Calibri" pitchFamily="34" charset="-122"/>
                <a:cs typeface="Calibri" pitchFamily="34" charset="-120"/>
              </a:rPr>
              <a:t>TIR-guided towards ONE end (0.548 / 2)</a:t>
            </a:r>
            <a:endParaRPr lang="en-US" sz="1800" dirty="0"/>
          </a:p>
        </p:txBody>
      </p:sp>
      <p:sp>
        <p:nvSpPr>
          <p:cNvPr id="8" name="Shape 6"/>
          <p:cNvSpPr/>
          <p:nvPr/>
        </p:nvSpPr>
        <p:spPr>
          <a:xfrm>
            <a:off x="5065776" y="1572768"/>
            <a:ext cx="2084832" cy="1417320"/>
          </a:xfrm>
          <a:prstGeom prst="roundRect">
            <a:avLst>
              <a:gd name="adj" fmla="val 3226"/>
            </a:avLst>
          </a:prstGeom>
          <a:solidFill>
            <a:srgbClr val="F2F4F8"/>
          </a:solidFill>
          <a:ln/>
        </p:spPr>
      </p:sp>
      <p:sp>
        <p:nvSpPr>
          <p:cNvPr id="9" name="Text 7"/>
          <p:cNvSpPr/>
          <p:nvPr/>
        </p:nvSpPr>
        <p:spPr>
          <a:xfrm>
            <a:off x="5175504" y="1572768"/>
            <a:ext cx="1865376" cy="1417320"/>
          </a:xfrm>
          <a:prstGeom prst="rect">
            <a:avLst/>
          </a:prstGeom>
          <a:noFill/>
          <a:ln/>
        </p:spPr>
        <p:txBody>
          <a:bodyPr wrap="square" lIns="0" tIns="0" rIns="0" bIns="0" rtlCol="0" anchor="ctr"/>
          <a:lstStyle/>
          <a:p>
            <a:pPr algn="ctr" indent="0" marL="0">
              <a:lnSpc>
                <a:spcPts val="2100"/>
              </a:lnSpc>
              <a:buNone/>
            </a:pPr>
            <a:r>
              <a:rPr lang="en-US" sz="1800" b="1" dirty="0">
                <a:solidFill>
                  <a:srgbClr val="0E1730"/>
                </a:solidFill>
                <a:latin typeface="Cambria" pitchFamily="34" charset="0"/>
                <a:ea typeface="Cambria" pitchFamily="34" charset="-122"/>
                <a:cs typeface="Cambria" pitchFamily="34" charset="-120"/>
              </a:rPr>
              <a:t>× 0.56</a:t>
            </a:r>
            <a:endParaRPr lang="en-US" sz="1800" dirty="0"/>
          </a:p>
          <a:p>
            <a:pPr algn="ctr" indent="0" marL="0">
              <a:lnSpc>
                <a:spcPts val="2100"/>
              </a:lnSpc>
              <a:buNone/>
            </a:pPr>
            <a:r>
              <a:rPr lang="en-US" sz="1000" dirty="0">
                <a:solidFill>
                  <a:srgbClr val="5A6478"/>
                </a:solidFill>
                <a:latin typeface="Calibri" pitchFamily="34" charset="0"/>
                <a:ea typeface="Calibri" pitchFamily="34" charset="-122"/>
                <a:cs typeface="Calibri" pitchFamily="34" charset="-120"/>
              </a:rPr>
              <a:t>bulk attenuation, 70 cm</a:t>
            </a:r>
            <a:endParaRPr lang="en-US" sz="1800" dirty="0"/>
          </a:p>
        </p:txBody>
      </p:sp>
      <p:sp>
        <p:nvSpPr>
          <p:cNvPr id="10" name="Shape 8"/>
          <p:cNvSpPr/>
          <p:nvPr/>
        </p:nvSpPr>
        <p:spPr>
          <a:xfrm>
            <a:off x="7315200" y="1572768"/>
            <a:ext cx="2084832" cy="1417320"/>
          </a:xfrm>
          <a:prstGeom prst="roundRect">
            <a:avLst>
              <a:gd name="adj" fmla="val 3226"/>
            </a:avLst>
          </a:prstGeom>
          <a:solidFill>
            <a:srgbClr val="F2F4F8"/>
          </a:solidFill>
          <a:ln/>
        </p:spPr>
      </p:sp>
      <p:sp>
        <p:nvSpPr>
          <p:cNvPr id="11" name="Text 9"/>
          <p:cNvSpPr/>
          <p:nvPr/>
        </p:nvSpPr>
        <p:spPr>
          <a:xfrm>
            <a:off x="7424928" y="1572768"/>
            <a:ext cx="1865376" cy="1417320"/>
          </a:xfrm>
          <a:prstGeom prst="rect">
            <a:avLst/>
          </a:prstGeom>
          <a:noFill/>
          <a:ln/>
        </p:spPr>
        <p:txBody>
          <a:bodyPr wrap="square" lIns="0" tIns="0" rIns="0" bIns="0" rtlCol="0" anchor="ctr"/>
          <a:lstStyle/>
          <a:p>
            <a:pPr algn="ctr" indent="0" marL="0">
              <a:lnSpc>
                <a:spcPts val="2100"/>
              </a:lnSpc>
              <a:buNone/>
            </a:pPr>
            <a:r>
              <a:rPr lang="en-US" sz="1800" b="1" dirty="0">
                <a:solidFill>
                  <a:srgbClr val="0E1730"/>
                </a:solidFill>
                <a:latin typeface="Cambria" pitchFamily="34" charset="0"/>
                <a:ea typeface="Cambria" pitchFamily="34" charset="-122"/>
                <a:cs typeface="Cambria" pitchFamily="34" charset="-120"/>
              </a:rPr>
              <a:t>× 0.48</a:t>
            </a:r>
            <a:endParaRPr lang="en-US" sz="1800" dirty="0"/>
          </a:p>
          <a:p>
            <a:pPr algn="ctr" indent="0" marL="0">
              <a:lnSpc>
                <a:spcPts val="2100"/>
              </a:lnSpc>
              <a:buNone/>
            </a:pPr>
            <a:r>
              <a:rPr lang="en-US" sz="1000" dirty="0">
                <a:solidFill>
                  <a:srgbClr val="5A6478"/>
                </a:solidFill>
                <a:latin typeface="Calibri" pitchFamily="34" charset="0"/>
                <a:ea typeface="Calibri" pitchFamily="34" charset="-122"/>
                <a:cs typeface="Calibri" pitchFamily="34" charset="-120"/>
              </a:rPr>
              <a:t>end coverage, 288 / 600 mm²</a:t>
            </a:r>
            <a:endParaRPr lang="en-US" sz="1800" dirty="0"/>
          </a:p>
        </p:txBody>
      </p:sp>
      <p:sp>
        <p:nvSpPr>
          <p:cNvPr id="12" name="Shape 10"/>
          <p:cNvSpPr/>
          <p:nvPr/>
        </p:nvSpPr>
        <p:spPr>
          <a:xfrm>
            <a:off x="9564624" y="1572768"/>
            <a:ext cx="2084832" cy="1417320"/>
          </a:xfrm>
          <a:prstGeom prst="roundRect">
            <a:avLst>
              <a:gd name="adj" fmla="val 3226"/>
            </a:avLst>
          </a:prstGeom>
          <a:solidFill>
            <a:srgbClr val="E9F2FA"/>
          </a:solidFill>
          <a:ln/>
        </p:spPr>
      </p:sp>
      <p:sp>
        <p:nvSpPr>
          <p:cNvPr id="13" name="Text 11"/>
          <p:cNvSpPr/>
          <p:nvPr/>
        </p:nvSpPr>
        <p:spPr>
          <a:xfrm>
            <a:off x="9674352" y="1572768"/>
            <a:ext cx="1865376" cy="1417320"/>
          </a:xfrm>
          <a:prstGeom prst="rect">
            <a:avLst/>
          </a:prstGeom>
          <a:noFill/>
          <a:ln/>
        </p:spPr>
        <p:txBody>
          <a:bodyPr wrap="square" lIns="0" tIns="0" rIns="0" bIns="0" rtlCol="0" anchor="ctr"/>
          <a:lstStyle/>
          <a:p>
            <a:pPr algn="ctr" indent="0" marL="0">
              <a:lnSpc>
                <a:spcPts val="2100"/>
              </a:lnSpc>
              <a:buNone/>
            </a:pPr>
            <a:r>
              <a:rPr lang="en-US" sz="1800" b="1" dirty="0">
                <a:solidFill>
                  <a:srgbClr val="2E5FA3"/>
                </a:solidFill>
                <a:latin typeface="Cambria" pitchFamily="34" charset="0"/>
                <a:ea typeface="Cambria" pitchFamily="34" charset="-122"/>
                <a:cs typeface="Cambria" pitchFamily="34" charset="-120"/>
              </a:rPr>
              <a:t>≈ 1.4 × 10³</a:t>
            </a:r>
            <a:endParaRPr lang="en-US" sz="1800" dirty="0"/>
          </a:p>
          <a:p>
            <a:pPr algn="ctr" indent="0" marL="0">
              <a:lnSpc>
                <a:spcPts val="2100"/>
              </a:lnSpc>
              <a:buNone/>
            </a:pPr>
            <a:r>
              <a:rPr lang="en-US" sz="1000" dirty="0">
                <a:solidFill>
                  <a:srgbClr val="5A6478"/>
                </a:solidFill>
                <a:latin typeface="Calibri" pitchFamily="34" charset="0"/>
                <a:ea typeface="Calibri" pitchFamily="34" charset="-122"/>
                <a:cs typeface="Calibri" pitchFamily="34" charset="-120"/>
              </a:rPr>
              <a:t>photons at that end</a:t>
            </a:r>
            <a:endParaRPr lang="en-US" sz="1800" dirty="0"/>
          </a:p>
        </p:txBody>
      </p:sp>
      <p:sp>
        <p:nvSpPr>
          <p:cNvPr id="14" name="Shape 12"/>
          <p:cNvSpPr/>
          <p:nvPr/>
        </p:nvSpPr>
        <p:spPr>
          <a:xfrm>
            <a:off x="566928" y="3246120"/>
            <a:ext cx="5486400" cy="914400"/>
          </a:xfrm>
          <a:prstGeom prst="roundRect">
            <a:avLst>
              <a:gd name="adj" fmla="val 6000"/>
            </a:avLst>
          </a:prstGeom>
          <a:solidFill>
            <a:srgbClr val="E9F2FA"/>
          </a:solidFill>
          <a:ln/>
        </p:spPr>
      </p:sp>
      <p:sp>
        <p:nvSpPr>
          <p:cNvPr id="15" name="Text 13"/>
          <p:cNvSpPr/>
          <p:nvPr/>
        </p:nvSpPr>
        <p:spPr>
          <a:xfrm>
            <a:off x="822960" y="3246120"/>
            <a:ext cx="5029200" cy="914400"/>
          </a:xfrm>
          <a:prstGeom prst="rect">
            <a:avLst/>
          </a:prstGeom>
          <a:noFill/>
          <a:ln/>
        </p:spPr>
        <p:txBody>
          <a:bodyPr wrap="square" lIns="0" tIns="0" rIns="0" bIns="0" rtlCol="0" anchor="ctr"/>
          <a:lstStyle/>
          <a:p>
            <a:pPr indent="0" marL="0">
              <a:lnSpc>
                <a:spcPts val="2600"/>
              </a:lnSpc>
              <a:buNone/>
            </a:pPr>
            <a:r>
              <a:rPr lang="en-US" sz="1450" i="1" dirty="0">
                <a:solidFill>
                  <a:srgbClr val="0E1730"/>
                </a:solidFill>
                <a:latin typeface="Cambria" pitchFamily="34" charset="0"/>
                <a:ea typeface="Cambria" pitchFamily="34" charset="-122"/>
                <a:cs typeface="Cambria" pitchFamily="34" charset="-120"/>
              </a:rPr>
              <a:t>× PDE ≈ 0.4   →   ≈ 5.7 × 10² PE per end   ≈ 1.1 × 10³ for L + R</a:t>
            </a:r>
            <a:endParaRPr lang="en-US" sz="1450" dirty="0"/>
          </a:p>
        </p:txBody>
      </p:sp>
      <p:sp>
        <p:nvSpPr>
          <p:cNvPr id="16" name="Text 14"/>
          <p:cNvSpPr/>
          <p:nvPr/>
        </p:nvSpPr>
        <p:spPr>
          <a:xfrm>
            <a:off x="566928" y="4297680"/>
            <a:ext cx="5486400" cy="731520"/>
          </a:xfrm>
          <a:prstGeom prst="rect">
            <a:avLst/>
          </a:prstGeom>
          <a:noFill/>
          <a:ln/>
        </p:spPr>
        <p:txBody>
          <a:bodyPr wrap="square" lIns="0" tIns="0" rIns="0" bIns="0" rtlCol="0" anchor="t"/>
          <a:lstStyle/>
          <a:p>
            <a:pPr indent="0" marL="0">
              <a:lnSpc>
                <a:spcPts val="1900"/>
              </a:lnSpc>
              <a:buNone/>
            </a:pPr>
            <a:r>
              <a:rPr lang="en-US" sz="1350" dirty="0">
                <a:solidFill>
                  <a:srgbClr val="0E1730"/>
                </a:solidFill>
                <a:latin typeface="Calibri" pitchFamily="34" charset="0"/>
                <a:ea typeface="Calibri" pitchFamily="34" charset="-122"/>
                <a:cs typeface="Calibri" pitchFamily="34" charset="-120"/>
              </a:rPr>
              <a:t>Geant4, EJ-230 + END + Vikuiti at the centre: Npe ≈ 1400. The chain closes, and the excess is what the reflector-recovered population should add.</a:t>
            </a:r>
            <a:endParaRPr lang="en-US" sz="1350" dirty="0"/>
          </a:p>
        </p:txBody>
      </p:sp>
      <p:sp>
        <p:nvSpPr>
          <p:cNvPr id="17" name="Text 15"/>
          <p:cNvSpPr/>
          <p:nvPr/>
        </p:nvSpPr>
        <p:spPr>
          <a:xfrm>
            <a:off x="566928" y="5074920"/>
            <a:ext cx="5486400" cy="777240"/>
          </a:xfrm>
          <a:prstGeom prst="rect">
            <a:avLst/>
          </a:prstGeom>
          <a:noFill/>
          <a:ln/>
        </p:spPr>
        <p:txBody>
          <a:bodyPr wrap="square" lIns="0" tIns="0" rIns="0" bIns="0" rtlCol="0" anchor="t"/>
          <a:lstStyle/>
          <a:p>
            <a:pPr indent="0" marL="0">
              <a:lnSpc>
                <a:spcPts val="1700"/>
              </a:lnSpc>
              <a:buNone/>
            </a:pPr>
            <a:r>
              <a:rPr lang="en-US" sz="1200" i="1" dirty="0">
                <a:solidFill>
                  <a:srgbClr val="5A6478"/>
                </a:solidFill>
                <a:latin typeface="Calibri" pitchFamily="34" charset="0"/>
                <a:ea typeface="Calibri" pitchFamily="34" charset="-122"/>
                <a:cs typeface="Calibri" pitchFamily="34" charset="-120"/>
              </a:rPr>
              <a:t>The factors are not strictly independent (coverage, PDE, incidence angle and multiple chances to hit a sensor are correlated). This is a scale check, not a prediction.</a:t>
            </a:r>
            <a:endParaRPr lang="en-US" sz="1200" dirty="0"/>
          </a:p>
        </p:txBody>
      </p:sp>
      <p:sp>
        <p:nvSpPr>
          <p:cNvPr id="18" name="Shape 16"/>
          <p:cNvSpPr/>
          <p:nvPr/>
        </p:nvSpPr>
        <p:spPr>
          <a:xfrm>
            <a:off x="6446520" y="3246120"/>
            <a:ext cx="5093208" cy="1234440"/>
          </a:xfrm>
          <a:prstGeom prst="roundRect">
            <a:avLst>
              <a:gd name="adj" fmla="val 3704"/>
            </a:avLst>
          </a:prstGeom>
          <a:solidFill>
            <a:srgbClr val="F2F4F8"/>
          </a:solidFill>
          <a:ln/>
        </p:spPr>
      </p:sp>
      <p:sp>
        <p:nvSpPr>
          <p:cNvPr id="19" name="Text 17"/>
          <p:cNvSpPr/>
          <p:nvPr/>
        </p:nvSpPr>
        <p:spPr>
          <a:xfrm>
            <a:off x="6702552" y="3410712"/>
            <a:ext cx="4581144"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COUNT PER END, ALWAYS</a:t>
            </a:r>
            <a:endParaRPr lang="en-US" sz="1050" dirty="0"/>
          </a:p>
        </p:txBody>
      </p:sp>
      <p:sp>
        <p:nvSpPr>
          <p:cNvPr id="20" name="Text 18"/>
          <p:cNvSpPr/>
          <p:nvPr/>
        </p:nvSpPr>
        <p:spPr>
          <a:xfrm>
            <a:off x="6702552" y="3703320"/>
            <a:ext cx="4581144" cy="594360"/>
          </a:xfrm>
          <a:prstGeom prst="rect">
            <a:avLst/>
          </a:prstGeom>
          <a:noFill/>
          <a:ln/>
        </p:spPr>
        <p:txBody>
          <a:bodyPr wrap="square" lIns="0" tIns="0" rIns="0" bIns="0" rtlCol="0" anchor="t"/>
          <a:lstStyle/>
          <a:p>
            <a:pPr indent="0" marL="0">
              <a:lnSpc>
                <a:spcPts val="2000"/>
              </a:lnSpc>
              <a:buNone/>
            </a:pPr>
            <a:r>
              <a:rPr lang="en-US" sz="1350" dirty="0">
                <a:solidFill>
                  <a:srgbClr val="0E1730"/>
                </a:solidFill>
                <a:latin typeface="Calibri" pitchFamily="34" charset="0"/>
                <a:ea typeface="Calibri" pitchFamily="34" charset="-122"/>
                <a:cs typeface="Calibri" pitchFamily="34" charset="-120"/>
              </a:rPr>
              <a:t>Half the guided population goes each way. Mixing a both-ends fraction with a one-end coverage silently doubles the answer.</a:t>
            </a:r>
            <a:endParaRPr lang="en-US" sz="1350" dirty="0"/>
          </a:p>
        </p:txBody>
      </p:sp>
      <p:sp>
        <p:nvSpPr>
          <p:cNvPr id="21" name="Shape 19"/>
          <p:cNvSpPr/>
          <p:nvPr/>
        </p:nvSpPr>
        <p:spPr>
          <a:xfrm>
            <a:off x="6446520" y="4617720"/>
            <a:ext cx="5093208" cy="1234440"/>
          </a:xfrm>
          <a:prstGeom prst="roundRect">
            <a:avLst>
              <a:gd name="adj" fmla="val 3704"/>
            </a:avLst>
          </a:prstGeom>
          <a:solidFill>
            <a:srgbClr val="FBF0DE"/>
          </a:solidFill>
          <a:ln/>
        </p:spPr>
      </p:sp>
      <p:sp>
        <p:nvSpPr>
          <p:cNvPr id="22" name="Text 20"/>
          <p:cNvSpPr/>
          <p:nvPr/>
        </p:nvSpPr>
        <p:spPr>
          <a:xfrm>
            <a:off x="6702552" y="4800600"/>
            <a:ext cx="4572000" cy="274320"/>
          </a:xfrm>
          <a:prstGeom prst="rect">
            <a:avLst/>
          </a:prstGeom>
          <a:noFill/>
          <a:ln/>
        </p:spPr>
        <p:txBody>
          <a:bodyPr wrap="square" lIns="0" tIns="0" rIns="0" bIns="0" rtlCol="0" anchor="ctr"/>
          <a:lstStyle/>
          <a:p>
            <a:pPr indent="0" marL="0">
              <a:buNone/>
            </a:pPr>
            <a:r>
              <a:rPr lang="en-US" sz="1050" b="1" spc="120" kern="0" dirty="0">
                <a:solidFill>
                  <a:srgbClr val="C97A16"/>
                </a:solidFill>
                <a:latin typeface="Calibri" pitchFamily="34" charset="0"/>
                <a:ea typeface="Calibri" pitchFamily="34" charset="-122"/>
                <a:cs typeface="Calibri" pitchFamily="34" charset="-120"/>
              </a:rPr>
              <a:t>THE OUTSTANDING ANOMALY</a:t>
            </a:r>
            <a:endParaRPr lang="en-US" sz="1050" dirty="0"/>
          </a:p>
        </p:txBody>
      </p:sp>
      <p:sp>
        <p:nvSpPr>
          <p:cNvPr id="23" name="Text 21"/>
          <p:cNvSpPr/>
          <p:nvPr/>
        </p:nvSpPr>
        <p:spPr>
          <a:xfrm>
            <a:off x="6702552" y="5102352"/>
            <a:ext cx="4572000" cy="685800"/>
          </a:xfrm>
          <a:prstGeom prst="rect">
            <a:avLst/>
          </a:prstGeom>
          <a:noFill/>
          <a:ln/>
        </p:spPr>
        <p:txBody>
          <a:bodyPr wrap="square" lIns="0" tIns="0" rIns="0" bIns="0" rtlCol="0" anchor="t"/>
          <a:lstStyle/>
          <a:p>
            <a:pPr indent="0" marL="0">
              <a:lnSpc>
                <a:spcPts val="1800"/>
              </a:lnSpc>
              <a:buNone/>
            </a:pPr>
            <a:r>
              <a:rPr lang="en-US" sz="1300" dirty="0">
                <a:solidFill>
                  <a:srgbClr val="0E1730"/>
                </a:solidFill>
                <a:latin typeface="Calibri" pitchFamily="34" charset="0"/>
                <a:ea typeface="Calibri" pitchFamily="34" charset="-122"/>
                <a:cs typeface="Calibri" pitchFamily="34" charset="-120"/>
              </a:rPr>
              <a:t>A historical END + TIR-only run returned of order 1 PE per event. Before that is called physics, it has to survive the most pessimistic napkin we can write.</a:t>
            </a:r>
            <a:endParaRPr lang="en-US" sz="1300" dirty="0"/>
          </a:p>
        </p:txBody>
      </p:sp>
      <p:sp>
        <p:nvSpPr>
          <p:cNvPr id="24" name="Text 22"/>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25" name="Text 23"/>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AUDITING THE 1 PE RUN</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Even the worst case leaves two orders of magnitude</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0972800" cy="914400"/>
        </p:xfrm>
        <a:graphic>
          <a:graphicData uri="http://schemas.openxmlformats.org/drawingml/2006/table">
            <a:tbl>
              <a:tblPr/>
              <a:tblGrid>
                <a:gridCol w="3017520"/>
                <a:gridCol w="3291840"/>
                <a:gridCol w="2286000"/>
                <a:gridCol w="237744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Readout-face treatment</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Angular acceptance towards one end</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 per end</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Implied Vikuiti / TIR-only</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r>
              <a:tr h="475488">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Index-matched coupling</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0.274  (TIR-guided)</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 5.7 × 10²</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 1.2</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Air gap, escape cone only</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0.113  =  (1 − 0.774) / 2</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 2.4 × 10²</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300" dirty="0">
                          <a:solidFill>
                            <a:srgbClr val="0E1730"/>
                          </a:solidFill>
                          <a:latin typeface="Calibri" pitchFamily="34" charset="0"/>
                          <a:ea typeface="Calibri" pitchFamily="34" charset="-122"/>
                          <a:cs typeface="Calibri" pitchFamily="34" charset="-120"/>
                        </a:rPr>
                        <a:t>≈ 3</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E1730"/>
                          </a:solidFill>
                          <a:latin typeface="Calibri" pitchFamily="34" charset="0"/>
                          <a:ea typeface="Calibri" pitchFamily="34" charset="-122"/>
                          <a:cs typeface="Calibri" pitchFamily="34" charset="-120"/>
                        </a:rPr>
                        <a:t>Reported run</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c>
                  <a:txBody>
                    <a:bodyPr/>
                    <a:lstStyle/>
                    <a:p>
                      <a:pPr indent="0" marL="0">
                        <a:buNone/>
                      </a:pPr>
                      <a:r>
                        <a:rPr lang="en-US" sz="1300" b="1" dirty="0">
                          <a:solidFill>
                            <a:srgbClr val="0E17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c>
                  <a:txBody>
                    <a:bodyPr/>
                    <a:lstStyle/>
                    <a:p>
                      <a:pPr indent="0" marL="0">
                        <a:buNone/>
                      </a:pPr>
                      <a:r>
                        <a:rPr lang="en-US" sz="1300" b="1" dirty="0">
                          <a:solidFill>
                            <a:srgbClr val="0E1730"/>
                          </a:solidFill>
                          <a:latin typeface="Calibri" pitchFamily="34" charset="0"/>
                          <a:ea typeface="Calibri" pitchFamily="34" charset="-122"/>
                          <a:cs typeface="Calibri" pitchFamily="34" charset="-120"/>
                        </a:rPr>
                        <a:t>≈ 1 PE / event</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c>
                  <a:txBody>
                    <a:bodyPr/>
                    <a:lstStyle/>
                    <a:p>
                      <a:pPr indent="0" marL="0">
                        <a:buNone/>
                      </a:pPr>
                      <a:r>
                        <a:rPr lang="en-US" sz="1300" b="1" dirty="0">
                          <a:solidFill>
                            <a:srgbClr val="C97A16"/>
                          </a:solidFill>
                          <a:latin typeface="Calibri" pitchFamily="34" charset="0"/>
                          <a:ea typeface="Calibri" pitchFamily="34" charset="-122"/>
                          <a:cs typeface="Calibri" pitchFamily="34" charset="-120"/>
                        </a:rPr>
                        <a:t>≈ 10³</a:t>
                      </a:r>
                      <a:endParaRPr lang="en-US" sz="13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r>
            </a:tbl>
          </a:graphicData>
        </a:graphic>
      </p:graphicFrame>
      <p:sp>
        <p:nvSpPr>
          <p:cNvPr id="5" name="Shape 2"/>
          <p:cNvSpPr/>
          <p:nvPr/>
        </p:nvSpPr>
        <p:spPr>
          <a:xfrm>
            <a:off x="566928" y="3611880"/>
            <a:ext cx="5486400" cy="2148840"/>
          </a:xfrm>
          <a:prstGeom prst="roundRect">
            <a:avLst>
              <a:gd name="adj" fmla="val 2128"/>
            </a:avLst>
          </a:prstGeom>
          <a:solidFill>
            <a:srgbClr val="E9F2FA"/>
          </a:solidFill>
          <a:ln/>
        </p:spPr>
      </p:sp>
      <p:sp>
        <p:nvSpPr>
          <p:cNvPr id="6" name="Text 3"/>
          <p:cNvSpPr/>
          <p:nvPr/>
        </p:nvSpPr>
        <p:spPr>
          <a:xfrm>
            <a:off x="822960" y="3776472"/>
            <a:ext cx="4974336"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THE ESCAPE CONE CANNOT BE THE EXPLANATION</a:t>
            </a:r>
            <a:endParaRPr lang="en-US" sz="1050" dirty="0"/>
          </a:p>
        </p:txBody>
      </p:sp>
      <p:sp>
        <p:nvSpPr>
          <p:cNvPr id="7" name="Text 4"/>
          <p:cNvSpPr/>
          <p:nvPr/>
        </p:nvSpPr>
        <p:spPr>
          <a:xfrm>
            <a:off x="822960" y="4069080"/>
            <a:ext cx="4974336" cy="1508760"/>
          </a:xfrm>
          <a:prstGeom prst="rect">
            <a:avLst/>
          </a:prstGeom>
          <a:noFill/>
          <a:ln/>
        </p:spPr>
        <p:txBody>
          <a:bodyPr wrap="square" lIns="0" tIns="0" rIns="0" bIns="0" rtlCol="0" anchor="t"/>
          <a:lstStyle/>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Knoll warns that TIR must be minimised on the face you read from. But that cone sits at the readout face, so it cuts the Vikuiti configuration by the same factor — it cannot generate a ratio.</a:t>
            </a:r>
            <a:endParaRPr lang="en-US" sz="1300" dirty="0"/>
          </a:p>
          <a:p>
            <a:pPr indent="0" marL="0">
              <a:lnSpc>
                <a:spcPts val="2000"/>
              </a:lnSpc>
              <a:buNone/>
            </a:pPr>
            <a:endParaRPr lang="en-US" sz="1300" dirty="0"/>
          </a:p>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The only genuine difference is the side walls: 0.548 guided, versus 0.548 plus whatever the reflector recovers.</a:t>
            </a:r>
            <a:endParaRPr lang="en-US" sz="1300" dirty="0"/>
          </a:p>
        </p:txBody>
      </p:sp>
      <p:sp>
        <p:nvSpPr>
          <p:cNvPr id="8" name="Shape 5"/>
          <p:cNvSpPr/>
          <p:nvPr/>
        </p:nvSpPr>
        <p:spPr>
          <a:xfrm>
            <a:off x="6446520" y="3611880"/>
            <a:ext cx="5093208" cy="2148840"/>
          </a:xfrm>
          <a:prstGeom prst="roundRect">
            <a:avLst>
              <a:gd name="adj" fmla="val 2128"/>
            </a:avLst>
          </a:prstGeom>
          <a:solidFill>
            <a:srgbClr val="FBF0DE"/>
          </a:solidFill>
          <a:ln/>
        </p:spPr>
      </p:sp>
      <p:sp>
        <p:nvSpPr>
          <p:cNvPr id="9" name="Text 6"/>
          <p:cNvSpPr/>
          <p:nvPr/>
        </p:nvSpPr>
        <p:spPr>
          <a:xfrm>
            <a:off x="6702552" y="3794760"/>
            <a:ext cx="4572000" cy="274320"/>
          </a:xfrm>
          <a:prstGeom prst="rect">
            <a:avLst/>
          </a:prstGeom>
          <a:noFill/>
          <a:ln/>
        </p:spPr>
        <p:txBody>
          <a:bodyPr wrap="square" lIns="0" tIns="0" rIns="0" bIns="0" rtlCol="0" anchor="ctr"/>
          <a:lstStyle/>
          <a:p>
            <a:pPr indent="0" marL="0">
              <a:buNone/>
            </a:pPr>
            <a:r>
              <a:rPr lang="en-US" sz="1050" b="1" spc="120" kern="0" dirty="0">
                <a:solidFill>
                  <a:srgbClr val="C97A16"/>
                </a:solidFill>
                <a:latin typeface="Calibri" pitchFamily="34" charset="0"/>
                <a:ea typeface="Calibri" pitchFamily="34" charset="-122"/>
                <a:cs typeface="Calibri" pitchFamily="34" charset="-120"/>
              </a:rPr>
              <a:t>THE FALSIFIABLE PREDICTION</a:t>
            </a:r>
            <a:endParaRPr lang="en-US" sz="1050" dirty="0"/>
          </a:p>
        </p:txBody>
      </p:sp>
      <p:sp>
        <p:nvSpPr>
          <p:cNvPr id="10" name="Text 7"/>
          <p:cNvSpPr/>
          <p:nvPr/>
        </p:nvSpPr>
        <p:spPr>
          <a:xfrm>
            <a:off x="6702552" y="4114800"/>
            <a:ext cx="4572000" cy="1554480"/>
          </a:xfrm>
          <a:prstGeom prst="rect">
            <a:avLst/>
          </a:prstGeom>
          <a:noFill/>
          <a:ln/>
        </p:spPr>
        <p:txBody>
          <a:bodyPr wrap="square" lIns="0" tIns="0" rIns="0" bIns="0" rtlCol="0" anchor="t"/>
          <a:lstStyle/>
          <a:p>
            <a:pPr indent="0" marL="0">
              <a:lnSpc>
                <a:spcPts val="1800"/>
              </a:lnSpc>
              <a:buNone/>
            </a:pPr>
            <a:r>
              <a:rPr lang="en-US" sz="1300" dirty="0">
                <a:solidFill>
                  <a:srgbClr val="0E1730"/>
                </a:solidFill>
                <a:latin typeface="Calibri" pitchFamily="34" charset="0"/>
                <a:ea typeface="Calibri" pitchFamily="34" charset="-122"/>
                <a:cs typeface="Calibri" pitchFamily="34" charset="-120"/>
              </a:rPr>
              <a:t>Run END + TIR-only and END + Vikuiti under identical conditions and compare per-end yields. The napkin brackets the ratio between roughly 1 and 3 — every other factor cancels.</a:t>
            </a:r>
            <a:endParaRPr lang="en-US" sz="1300" dirty="0"/>
          </a:p>
          <a:p>
            <a:pPr indent="0" marL="0">
              <a:lnSpc>
                <a:spcPts val="1800"/>
              </a:lnSpc>
              <a:buNone/>
            </a:pPr>
            <a:endParaRPr lang="en-US" sz="1300" dirty="0"/>
          </a:p>
          <a:p>
            <a:pPr indent="0" marL="0">
              <a:lnSpc>
                <a:spcPts val="1800"/>
              </a:lnSpc>
              <a:buNone/>
            </a:pPr>
            <a:r>
              <a:rPr lang="en-US" sz="1300" dirty="0">
                <a:solidFill>
                  <a:srgbClr val="0E1730"/>
                </a:solidFill>
                <a:latin typeface="Calibri" pitchFamily="34" charset="0"/>
                <a:ea typeface="Calibri" pitchFamily="34" charset="-122"/>
                <a:cs typeface="Calibri" pitchFamily="34" charset="-120"/>
              </a:rPr>
              <a:t>A ratio near 10³ is not a physical result. It is a surface, boundary or RINDEX definition to be found.</a:t>
            </a:r>
            <a:endParaRPr lang="en-US" sz="1300" dirty="0"/>
          </a:p>
        </p:txBody>
      </p:sp>
      <p:sp>
        <p:nvSpPr>
          <p:cNvPr id="11" name="Text 8"/>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      |      Knoll Ch. 8 on the readout face and index-matched coupling</a:t>
            </a:r>
            <a:endParaRPr lang="en-US" sz="900" dirty="0"/>
          </a:p>
        </p:txBody>
      </p:sp>
      <p:sp>
        <p:nvSpPr>
          <p:cNvPr id="12" name="Text 9"/>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THE MEASUREMENT</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From arrival times to physical observables</a:t>
            </a:r>
            <a:endParaRPr lang="en-US" sz="2600" dirty="0"/>
          </a:p>
        </p:txBody>
      </p:sp>
      <p:sp>
        <p:nvSpPr>
          <p:cNvPr id="4" name="Shape 2"/>
          <p:cNvSpPr/>
          <p:nvPr/>
        </p:nvSpPr>
        <p:spPr>
          <a:xfrm>
            <a:off x="566928" y="1536192"/>
            <a:ext cx="6035040" cy="1828800"/>
          </a:xfrm>
          <a:prstGeom prst="roundRect">
            <a:avLst>
              <a:gd name="adj" fmla="val 3000"/>
            </a:avLst>
          </a:prstGeom>
          <a:solidFill>
            <a:srgbClr val="F2F4F8"/>
          </a:solidFill>
          <a:ln/>
        </p:spPr>
      </p:sp>
      <p:sp>
        <p:nvSpPr>
          <p:cNvPr id="5" name="Text 3"/>
          <p:cNvSpPr/>
          <p:nvPr/>
        </p:nvSpPr>
        <p:spPr>
          <a:xfrm>
            <a:off x="822960" y="1536192"/>
            <a:ext cx="5577840" cy="1828800"/>
          </a:xfrm>
          <a:prstGeom prst="rect">
            <a:avLst/>
          </a:prstGeom>
          <a:noFill/>
          <a:ln/>
        </p:spPr>
        <p:txBody>
          <a:bodyPr wrap="square" lIns="0" tIns="0" rIns="0" bIns="0" rtlCol="0" anchor="ctr"/>
          <a:lstStyle/>
          <a:p>
            <a:pPr indent="0" marL="0">
              <a:lnSpc>
                <a:spcPts val="2600"/>
              </a:lnSpc>
              <a:buNone/>
            </a:pPr>
            <a:r>
              <a:rPr lang="en-US" sz="1600" i="1" dirty="0">
                <a:solidFill>
                  <a:srgbClr val="0E1730"/>
                </a:solidFill>
                <a:latin typeface="Cambria" pitchFamily="34" charset="0"/>
                <a:ea typeface="Cambria" pitchFamily="34" charset="-122"/>
                <a:cs typeface="Cambria" pitchFamily="34" charset="-120"/>
              </a:rPr>
              <a:t>tL = t0 + (L/2 + x)/veff + εL</a:t>
            </a:r>
            <a:endParaRPr lang="en-US" sz="1600" dirty="0"/>
          </a:p>
          <a:p>
            <a:pPr indent="0" marL="0">
              <a:lnSpc>
                <a:spcPts val="2600"/>
              </a:lnSpc>
              <a:buNone/>
            </a:pPr>
            <a:r>
              <a:rPr lang="en-US" sz="1600" i="1" dirty="0">
                <a:solidFill>
                  <a:srgbClr val="0E1730"/>
                </a:solidFill>
                <a:latin typeface="Cambria" pitchFamily="34" charset="0"/>
                <a:ea typeface="Cambria" pitchFamily="34" charset="-122"/>
                <a:cs typeface="Cambria" pitchFamily="34" charset="-120"/>
              </a:rPr>
              <a:t>tR = t0 + (L/2 − x)/veff + εR</a:t>
            </a:r>
            <a:endParaRPr lang="en-US" sz="1600" dirty="0"/>
          </a:p>
        </p:txBody>
      </p:sp>
      <p:sp>
        <p:nvSpPr>
          <p:cNvPr id="6" name="Shape 4"/>
          <p:cNvSpPr/>
          <p:nvPr/>
        </p:nvSpPr>
        <p:spPr>
          <a:xfrm>
            <a:off x="566928" y="3566160"/>
            <a:ext cx="2926080" cy="1371600"/>
          </a:xfrm>
          <a:prstGeom prst="roundRect">
            <a:avLst>
              <a:gd name="adj" fmla="val 3333"/>
            </a:avLst>
          </a:prstGeom>
          <a:solidFill>
            <a:srgbClr val="E9F2FA"/>
          </a:solidFill>
          <a:ln/>
        </p:spPr>
      </p:sp>
      <p:sp>
        <p:nvSpPr>
          <p:cNvPr id="7" name="Text 5"/>
          <p:cNvSpPr/>
          <p:nvPr/>
        </p:nvSpPr>
        <p:spPr>
          <a:xfrm>
            <a:off x="822960" y="3730752"/>
            <a:ext cx="2414016" cy="237744"/>
          </a:xfrm>
          <a:prstGeom prst="rect">
            <a:avLst/>
          </a:prstGeom>
          <a:noFill/>
          <a:ln/>
        </p:spPr>
        <p:txBody>
          <a:bodyPr wrap="square" lIns="0" tIns="0" rIns="0" bIns="0" rtlCol="0" anchor="ctr"/>
          <a:lstStyle/>
          <a:p>
            <a:pPr indent="0" marL="0">
              <a:buNone/>
            </a:pPr>
            <a:r>
              <a:rPr lang="en-US" sz="1050" b="1" spc="130" kern="0" dirty="0">
                <a:solidFill>
                  <a:srgbClr val="2E5FA3"/>
                </a:solidFill>
                <a:latin typeface="Calibri" pitchFamily="34" charset="0"/>
                <a:ea typeface="Calibri" pitchFamily="34" charset="-122"/>
                <a:cs typeface="Calibri" pitchFamily="34" charset="-120"/>
              </a:rPr>
              <a:t>SUM</a:t>
            </a:r>
            <a:endParaRPr lang="en-US" sz="1050" dirty="0"/>
          </a:p>
        </p:txBody>
      </p:sp>
      <p:sp>
        <p:nvSpPr>
          <p:cNvPr id="8" name="Text 6"/>
          <p:cNvSpPr/>
          <p:nvPr/>
        </p:nvSpPr>
        <p:spPr>
          <a:xfrm>
            <a:off x="822960" y="4023360"/>
            <a:ext cx="2414016" cy="73152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T0 = (tL + tR)/2</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x cancels → vertex time</a:t>
            </a:r>
            <a:endParaRPr lang="en-US" sz="1400" dirty="0"/>
          </a:p>
        </p:txBody>
      </p:sp>
      <p:sp>
        <p:nvSpPr>
          <p:cNvPr id="9" name="Shape 7"/>
          <p:cNvSpPr/>
          <p:nvPr/>
        </p:nvSpPr>
        <p:spPr>
          <a:xfrm>
            <a:off x="3675888" y="3566160"/>
            <a:ext cx="2926080" cy="1371600"/>
          </a:xfrm>
          <a:prstGeom prst="roundRect">
            <a:avLst>
              <a:gd name="adj" fmla="val 3333"/>
            </a:avLst>
          </a:prstGeom>
          <a:solidFill>
            <a:srgbClr val="FBF0DE"/>
          </a:solidFill>
          <a:ln/>
        </p:spPr>
      </p:sp>
      <p:sp>
        <p:nvSpPr>
          <p:cNvPr id="10" name="Text 8"/>
          <p:cNvSpPr/>
          <p:nvPr/>
        </p:nvSpPr>
        <p:spPr>
          <a:xfrm>
            <a:off x="3931920" y="3730752"/>
            <a:ext cx="2414016"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DIFFERENCE</a:t>
            </a:r>
            <a:endParaRPr lang="en-US" sz="1050" dirty="0"/>
          </a:p>
        </p:txBody>
      </p:sp>
      <p:sp>
        <p:nvSpPr>
          <p:cNvPr id="11" name="Text 9"/>
          <p:cNvSpPr/>
          <p:nvPr/>
        </p:nvSpPr>
        <p:spPr>
          <a:xfrm>
            <a:off x="3931920" y="4023360"/>
            <a:ext cx="2414016" cy="73152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Δt = tR − tL = −2x/veff</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 longitudinal position</a:t>
            </a:r>
            <a:endParaRPr lang="en-US" sz="1400" dirty="0"/>
          </a:p>
        </p:txBody>
      </p:sp>
      <p:sp>
        <p:nvSpPr>
          <p:cNvPr id="12" name="Shape 10"/>
          <p:cNvSpPr/>
          <p:nvPr/>
        </p:nvSpPr>
        <p:spPr>
          <a:xfrm>
            <a:off x="566928" y="5120640"/>
            <a:ext cx="6035040" cy="868680"/>
          </a:xfrm>
          <a:prstGeom prst="roundRect">
            <a:avLst>
              <a:gd name="adj" fmla="val 6316"/>
            </a:avLst>
          </a:prstGeom>
          <a:solidFill>
            <a:srgbClr val="F2F4F8"/>
          </a:solidFill>
          <a:ln/>
        </p:spPr>
      </p:sp>
      <p:sp>
        <p:nvSpPr>
          <p:cNvPr id="13" name="Text 11"/>
          <p:cNvSpPr/>
          <p:nvPr/>
        </p:nvSpPr>
        <p:spPr>
          <a:xfrm>
            <a:off x="822960" y="5120640"/>
            <a:ext cx="5577840" cy="868680"/>
          </a:xfrm>
          <a:prstGeom prst="rect">
            <a:avLst/>
          </a:prstGeom>
          <a:noFill/>
          <a:ln/>
        </p:spPr>
        <p:txBody>
          <a:bodyPr wrap="square" lIns="0" tIns="0" rIns="0" bIns="0" rtlCol="0" anchor="ctr"/>
          <a:lstStyle/>
          <a:p>
            <a:pPr indent="0" marL="0">
              <a:lnSpc>
                <a:spcPts val="2600"/>
              </a:lnSpc>
              <a:buNone/>
            </a:pPr>
            <a:r>
              <a:rPr lang="en-US" sz="1700" i="1" dirty="0">
                <a:solidFill>
                  <a:srgbClr val="0E1730"/>
                </a:solidFill>
                <a:latin typeface="Cambria" pitchFamily="34" charset="0"/>
                <a:ea typeface="Cambria" pitchFamily="34" charset="-122"/>
                <a:cs typeface="Cambria" pitchFamily="34" charset="-120"/>
              </a:rPr>
              <a:t>σx = (veff / 2) · σΔt</a:t>
            </a:r>
            <a:endParaRPr lang="en-US" sz="1700" dirty="0"/>
          </a:p>
        </p:txBody>
      </p:sp>
      <p:sp>
        <p:nvSpPr>
          <p:cNvPr id="14" name="Shape 12"/>
          <p:cNvSpPr/>
          <p:nvPr/>
        </p:nvSpPr>
        <p:spPr>
          <a:xfrm>
            <a:off x="6949440" y="1536192"/>
            <a:ext cx="4590288" cy="2194560"/>
          </a:xfrm>
          <a:prstGeom prst="roundRect">
            <a:avLst>
              <a:gd name="adj" fmla="val 2083"/>
            </a:avLst>
          </a:prstGeom>
          <a:solidFill>
            <a:srgbClr val="E9F2FA"/>
          </a:solidFill>
          <a:ln/>
        </p:spPr>
      </p:sp>
      <p:sp>
        <p:nvSpPr>
          <p:cNvPr id="15" name="Text 13"/>
          <p:cNvSpPr/>
          <p:nvPr/>
        </p:nvSpPr>
        <p:spPr>
          <a:xfrm>
            <a:off x="7205472" y="1700784"/>
            <a:ext cx="4078224"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CONSISTENCY CHECK, NOT AN EXTRA MEASUREMENT</a:t>
            </a:r>
            <a:endParaRPr lang="en-US" sz="1050" dirty="0"/>
          </a:p>
        </p:txBody>
      </p:sp>
      <p:sp>
        <p:nvSpPr>
          <p:cNvPr id="16" name="Text 14"/>
          <p:cNvSpPr/>
          <p:nvPr/>
        </p:nvSpPr>
        <p:spPr>
          <a:xfrm>
            <a:off x="7205472" y="1993392"/>
            <a:ext cx="4078224" cy="155448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veff = 184.6 mm/ns and σΔt = 111.5 ps give</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σx = 92.3 × 0.1115 ≈ 10.3 mm,</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exactly what the simulation reports. The position resolution is not independent information — it is the timing resolution seen through the propagation velocity.</a:t>
            </a:r>
            <a:endParaRPr lang="en-US" sz="1400" dirty="0"/>
          </a:p>
        </p:txBody>
      </p:sp>
      <p:sp>
        <p:nvSpPr>
          <p:cNvPr id="17" name="Shape 15"/>
          <p:cNvSpPr/>
          <p:nvPr/>
        </p:nvSpPr>
        <p:spPr>
          <a:xfrm>
            <a:off x="6949440" y="3886200"/>
            <a:ext cx="4590288" cy="2103120"/>
          </a:xfrm>
          <a:prstGeom prst="roundRect">
            <a:avLst>
              <a:gd name="adj" fmla="val 2174"/>
            </a:avLst>
          </a:prstGeom>
          <a:solidFill>
            <a:srgbClr val="F2F4F8"/>
          </a:solidFill>
          <a:ln/>
        </p:spPr>
      </p:sp>
      <p:sp>
        <p:nvSpPr>
          <p:cNvPr id="18" name="Text 16"/>
          <p:cNvSpPr/>
          <p:nvPr/>
        </p:nvSpPr>
        <p:spPr>
          <a:xfrm>
            <a:off x="7205472" y="4050792"/>
            <a:ext cx="4078224" cy="237744"/>
          </a:xfrm>
          <a:prstGeom prst="rect">
            <a:avLst/>
          </a:prstGeom>
          <a:noFill/>
          <a:ln/>
        </p:spPr>
        <p:txBody>
          <a:bodyPr wrap="square" lIns="0" tIns="0" rIns="0" bIns="0" rtlCol="0" anchor="ctr"/>
          <a:lstStyle/>
          <a:p>
            <a:pPr indent="0" marL="0">
              <a:buNone/>
            </a:pPr>
            <a:r>
              <a:rPr lang="en-US" sz="1050" b="1" spc="130" kern="0" dirty="0">
                <a:solidFill>
                  <a:srgbClr val="5A6478"/>
                </a:solidFill>
                <a:latin typeface="Calibri" pitchFamily="34" charset="0"/>
                <a:ea typeface="Calibri" pitchFamily="34" charset="-122"/>
                <a:cs typeface="Calibri" pitchFamily="34" charset="-120"/>
              </a:rPr>
              <a:t>DECOMPOSITION OF THE MEASURED TIME</a:t>
            </a:r>
            <a:endParaRPr lang="en-US" sz="1050" dirty="0"/>
          </a:p>
        </p:txBody>
      </p:sp>
      <p:sp>
        <p:nvSpPr>
          <p:cNvPr id="19" name="Text 17"/>
          <p:cNvSpPr/>
          <p:nvPr/>
        </p:nvSpPr>
        <p:spPr>
          <a:xfrm>
            <a:off x="7205472" y="4343400"/>
            <a:ext cx="4078224" cy="1463040"/>
          </a:xfrm>
          <a:prstGeom prst="rect">
            <a:avLst/>
          </a:prstGeom>
          <a:noFill/>
          <a:ln/>
        </p:spPr>
        <p:txBody>
          <a:bodyPr wrap="square" lIns="0" tIns="0" rIns="0" bIns="0" rtlCol="0" anchor="t"/>
          <a:lstStyle/>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tmeas = t0 + tscint + tprop + tsensor + telec</a:t>
            </a:r>
            <a:endParaRPr lang="en-US" sz="1300" dirty="0"/>
          </a:p>
          <a:p>
            <a:pPr indent="0" marL="0">
              <a:lnSpc>
                <a:spcPts val="2000"/>
              </a:lnSpc>
              <a:buNone/>
            </a:pPr>
            <a:endParaRPr lang="en-US" sz="1300" dirty="0"/>
          </a:p>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tprop is a distribution of path lengths, not a constant. Knoll flags exactly this case: for fast emitters of large dimensions, the spread in photon path lengths can limit the achievable timing resolution.</a:t>
            </a:r>
            <a:endParaRPr lang="en-US" sz="1300" dirty="0"/>
          </a:p>
        </p:txBody>
      </p:sp>
      <p:sp>
        <p:nvSpPr>
          <p:cNvPr id="20" name="Text 18"/>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      |      Knoll Ch. 8 on path-length spread in large, fast scintillators</a:t>
            </a:r>
            <a:endParaRPr lang="en-US" sz="900" dirty="0"/>
          </a:p>
        </p:txBody>
      </p:sp>
      <p:sp>
        <p:nvSpPr>
          <p:cNvPr id="21" name="Text 19"/>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SCOREBOARD</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Napkin versus Geant4 and the literature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0972800" cy="914400"/>
        </p:xfrm>
        <a:graphic>
          <a:graphicData uri="http://schemas.openxmlformats.org/drawingml/2006/table">
            <a:tbl>
              <a:tblPr/>
              <a:tblGrid>
                <a:gridCol w="3017520"/>
                <a:gridCol w="3108960"/>
                <a:gridCol w="2743200"/>
                <a:gridCol w="210312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Quantity</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Napkin prediction</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Geant4 / literature</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0E1730"/>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Photons per muon</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 2 × 10⁴</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same order</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consistent</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Trapped fraction, one wall family</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0.774</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Knoll Eq. 8.15: 0.774</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textbook match</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Longitudinal velocity</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 190 mm/ns, axial limit</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184.6 mm/ns → βeff ≈ 13.5°</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consistent</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Npe at centre, END + Vikuiti</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 1.1 × 10³ (L + R)</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 1400</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consistent</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Light ordering</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EJ-200 &gt; EJ-204 &gt; EJ-230</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same ordering</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confirmed</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Timing ordering</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EJ-230 &lt; EJ-204 &lt; EJ-200</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same ordering</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confirmed</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σx from σΔt</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10.3 mm</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10.3 mm</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internal check</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Cylinder trapping (EJ-228)</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2F4F8"/>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18.4 % per direction (Eq. 8.14)</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2F4F8"/>
                    </a:solidFill>
                  </a:tcPr>
                </a:tc>
                <a:tc>
                  <a:txBody>
                    <a:bodyPr/>
                    <a:lstStyle/>
                    <a:p>
                      <a:pPr indent="0" marL="0">
                        <a:buNone/>
                      </a:pPr>
                      <a:r>
                        <a:rPr lang="en-US" sz="1200" dirty="0">
                          <a:solidFill>
                            <a:srgbClr val="0E1730"/>
                          </a:solidFill>
                          <a:latin typeface="Calibri" pitchFamily="34" charset="0"/>
                          <a:ea typeface="Calibri" pitchFamily="34" charset="-122"/>
                          <a:cs typeface="Calibri" pitchFamily="34" charset="-120"/>
                        </a:rPr>
                        <a:t>80 % quoted</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different definition — check</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2F4F8"/>
                    </a:solidFill>
                  </a:tcPr>
                </a:tc>
              </a:tr>
              <a:tr h="402336">
                <a:tc>
                  <a:txBody>
                    <a:bodyPr/>
                    <a:lstStyle/>
                    <a:p>
                      <a:pPr indent="0" marL="0">
                        <a:buNone/>
                      </a:pPr>
                      <a:r>
                        <a:rPr lang="en-US" sz="1200" b="1" dirty="0">
                          <a:solidFill>
                            <a:srgbClr val="0E1730"/>
                          </a:solidFill>
                          <a:latin typeface="Calibri" pitchFamily="34" charset="0"/>
                          <a:ea typeface="Calibri" pitchFamily="34" charset="-122"/>
                          <a:cs typeface="Calibri" pitchFamily="34" charset="-120"/>
                        </a:rPr>
                        <a:t>Vikuiti / TIR-only yield ratio</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c>
                  <a:txBody>
                    <a:bodyPr/>
                    <a:lstStyle/>
                    <a:p>
                      <a:pPr indent="0" marL="0">
                        <a:buNone/>
                      </a:pPr>
                      <a:r>
                        <a:rPr lang="en-US" sz="1200" b="1" dirty="0">
                          <a:solidFill>
                            <a:srgbClr val="0E1730"/>
                          </a:solidFill>
                          <a:latin typeface="Calibri" pitchFamily="34" charset="0"/>
                          <a:ea typeface="Calibri" pitchFamily="34" charset="-122"/>
                          <a:cs typeface="Calibri" pitchFamily="34" charset="-120"/>
                        </a:rPr>
                        <a:t>between 1 and 3</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c>
                  <a:txBody>
                    <a:bodyPr/>
                    <a:lstStyle/>
                    <a:p>
                      <a:pPr indent="0" marL="0">
                        <a:buNone/>
                      </a:pPr>
                      <a:r>
                        <a:rPr lang="en-US" sz="1200" b="1" dirty="0">
                          <a:solidFill>
                            <a:srgbClr val="0E1730"/>
                          </a:solidFill>
                          <a:latin typeface="Calibri" pitchFamily="34" charset="0"/>
                          <a:ea typeface="Calibri" pitchFamily="34" charset="-122"/>
                          <a:cs typeface="Calibri" pitchFamily="34" charset="-120"/>
                        </a:rPr>
                        <a:t>≈ 10³</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c>
                  <a:txBody>
                    <a:bodyPr/>
                    <a:lstStyle/>
                    <a:p>
                      <a:pPr indent="0" marL="0">
                        <a:buNone/>
                      </a:pPr>
                      <a:r>
                        <a:rPr lang="en-US" sz="1200" b="1" dirty="0">
                          <a:solidFill>
                            <a:srgbClr val="C97A16"/>
                          </a:solidFill>
                          <a:latin typeface="Calibri" pitchFamily="34" charset="0"/>
                          <a:ea typeface="Calibri" pitchFamily="34" charset="-122"/>
                          <a:cs typeface="Calibri" pitchFamily="34" charset="-120"/>
                        </a:rPr>
                        <a:t>AUDIT THE RUN</a:t>
                      </a:r>
                      <a:endParaRPr lang="en-US" sz="1200" dirty="0">
                        <a:latin typeface="Calibri" charset="0"/>
                        <a:ea typeface="Calibri" charset="0"/>
                        <a:cs typeface="Calibri" charset="0"/>
                      </a:endParaRPr>
                    </a:p>
                  </a:txBody>
                  <a:tcPr marL="91440" marR="91440" marT="45720" marB="45720" anchor="ctr">
                    <a:lnL w="12700" cap="flat" cmpd="sng" algn="ctr">
                      <a:solidFill>
                        <a:srgbClr val="DDE2EC"/>
                      </a:solidFill>
                      <a:prstDash val="solid"/>
                      <a:round/>
                      <a:headEnd type="none" w="med" len="med"/>
                      <a:tailEnd type="none" w="med" len="med"/>
                    </a:lnL>
                    <a:lnR w="12700" cap="flat" cmpd="sng" algn="ctr">
                      <a:solidFill>
                        <a:srgbClr val="DDE2EC"/>
                      </a:solidFill>
                      <a:prstDash val="solid"/>
                      <a:round/>
                      <a:headEnd type="none" w="med" len="med"/>
                      <a:tailEnd type="none" w="med" len="med"/>
                    </a:lnR>
                    <a:lnT w="12700" cap="flat" cmpd="sng" algn="ctr">
                      <a:solidFill>
                        <a:srgbClr val="DDE2EC"/>
                      </a:solidFill>
                      <a:prstDash val="solid"/>
                      <a:round/>
                      <a:headEnd type="none" w="med" len="med"/>
                      <a:tailEnd type="none" w="med" len="med"/>
                    </a:lnT>
                    <a:lnB w="12700" cap="flat" cmpd="sng" algn="ctr">
                      <a:solidFill>
                        <a:srgbClr val="DDE2EC"/>
                      </a:solidFill>
                      <a:prstDash val="solid"/>
                      <a:round/>
                      <a:headEnd type="none" w="med" len="med"/>
                      <a:tailEnd type="none" w="med" len="med"/>
                    </a:lnB>
                    <a:solidFill>
                      <a:srgbClr val="FBF0DE"/>
                    </a:solidFill>
                  </a:tcPr>
                </a:tc>
              </a:tr>
            </a:tbl>
          </a:graphicData>
        </a:graphic>
      </p:graphicFrame>
      <p:sp>
        <p:nvSpPr>
          <p:cNvPr id="5" name="Text 2"/>
          <p:cNvSpPr/>
          <p:nvPr/>
        </p:nvSpPr>
        <p:spPr>
          <a:xfrm>
            <a:off x="566928" y="5669280"/>
            <a:ext cx="10972800" cy="457200"/>
          </a:xfrm>
          <a:prstGeom prst="rect">
            <a:avLst/>
          </a:prstGeom>
          <a:noFill/>
          <a:ln/>
        </p:spPr>
        <p:txBody>
          <a:bodyPr wrap="square" lIns="0" tIns="0" rIns="0" bIns="0" rtlCol="0" anchor="ctr"/>
          <a:lstStyle/>
          <a:p>
            <a:pPr indent="0" marL="0">
              <a:buNone/>
            </a:pPr>
            <a:r>
              <a:rPr lang="en-US" sz="1700" i="1" dirty="0">
                <a:solidFill>
                  <a:srgbClr val="2E5FA3"/>
                </a:solidFill>
                <a:latin typeface="Cambria" pitchFamily="34" charset="0"/>
                <a:ea typeface="Cambria" pitchFamily="34" charset="-122"/>
                <a:cs typeface="Cambria" pitchFamily="34" charset="-120"/>
              </a:rPr>
              <a:t>Seven agreements. One quantity that needs its definition checked. One genuine anomaly.</a:t>
            </a:r>
            <a:endParaRPr lang="en-US" sz="1700" dirty="0"/>
          </a:p>
        </p:txBody>
      </p:sp>
      <p:sp>
        <p:nvSpPr>
          <p:cNvPr id="6" name="Text 3"/>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7" name="Text 4"/>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THE CONCEPTUAL CENTRE OF THE TALK</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Two photon populations, two kinds of information</a:t>
            </a:r>
            <a:endParaRPr lang="en-US" sz="2600" dirty="0"/>
          </a:p>
        </p:txBody>
      </p:sp>
      <p:sp>
        <p:nvSpPr>
          <p:cNvPr id="4" name="Shape 2"/>
          <p:cNvSpPr/>
          <p:nvPr/>
        </p:nvSpPr>
        <p:spPr>
          <a:xfrm>
            <a:off x="1234440" y="1572768"/>
            <a:ext cx="8778240" cy="713232"/>
          </a:xfrm>
          <a:prstGeom prst="rect">
            <a:avLst/>
          </a:prstGeom>
          <a:solidFill>
            <a:srgbClr val="F7FAFD"/>
          </a:solidFill>
          <a:ln w="12700">
            <a:solidFill>
              <a:srgbClr val="C6D4E4"/>
            </a:solidFill>
            <a:prstDash val="solid"/>
          </a:ln>
        </p:spPr>
      </p:sp>
      <p:sp>
        <p:nvSpPr>
          <p:cNvPr id="5" name="Shape 3"/>
          <p:cNvSpPr/>
          <p:nvPr/>
        </p:nvSpPr>
        <p:spPr>
          <a:xfrm>
            <a:off x="1234440" y="1636776"/>
            <a:ext cx="2194560" cy="585216"/>
          </a:xfrm>
          <a:prstGeom prst="line">
            <a:avLst/>
          </a:prstGeom>
          <a:noFill/>
          <a:ln w="28575">
            <a:solidFill>
              <a:srgbClr val="2E5FA3"/>
            </a:solidFill>
            <a:prstDash val="solid"/>
          </a:ln>
        </p:spPr>
      </p:sp>
      <p:sp>
        <p:nvSpPr>
          <p:cNvPr id="6" name="Shape 4"/>
          <p:cNvSpPr/>
          <p:nvPr/>
        </p:nvSpPr>
        <p:spPr>
          <a:xfrm flipV="1">
            <a:off x="3429000" y="1636776"/>
            <a:ext cx="2194560" cy="585216"/>
          </a:xfrm>
          <a:prstGeom prst="line">
            <a:avLst/>
          </a:prstGeom>
          <a:noFill/>
          <a:ln w="28575">
            <a:solidFill>
              <a:srgbClr val="2E5FA3"/>
            </a:solidFill>
            <a:prstDash val="solid"/>
          </a:ln>
        </p:spPr>
      </p:sp>
      <p:sp>
        <p:nvSpPr>
          <p:cNvPr id="7" name="Shape 5"/>
          <p:cNvSpPr/>
          <p:nvPr/>
        </p:nvSpPr>
        <p:spPr>
          <a:xfrm>
            <a:off x="5623560" y="1636776"/>
            <a:ext cx="2194560" cy="585216"/>
          </a:xfrm>
          <a:prstGeom prst="line">
            <a:avLst/>
          </a:prstGeom>
          <a:noFill/>
          <a:ln w="28575">
            <a:solidFill>
              <a:srgbClr val="2E5FA3"/>
            </a:solidFill>
            <a:prstDash val="solid"/>
          </a:ln>
        </p:spPr>
      </p:sp>
      <p:sp>
        <p:nvSpPr>
          <p:cNvPr id="8" name="Shape 6"/>
          <p:cNvSpPr/>
          <p:nvPr/>
        </p:nvSpPr>
        <p:spPr>
          <a:xfrm flipV="1">
            <a:off x="7818120" y="1636776"/>
            <a:ext cx="2194560" cy="585216"/>
          </a:xfrm>
          <a:prstGeom prst="line">
            <a:avLst/>
          </a:prstGeom>
          <a:noFill/>
          <a:ln w="28575">
            <a:solidFill>
              <a:srgbClr val="2E5FA3"/>
            </a:solidFill>
            <a:prstDash val="solid"/>
          </a:ln>
        </p:spPr>
      </p:sp>
      <p:sp>
        <p:nvSpPr>
          <p:cNvPr id="9" name="Shape 7"/>
          <p:cNvSpPr/>
          <p:nvPr/>
        </p:nvSpPr>
        <p:spPr>
          <a:xfrm>
            <a:off x="1115568" y="1828800"/>
            <a:ext cx="182880" cy="182880"/>
          </a:xfrm>
          <a:prstGeom prst="ellipse">
            <a:avLst/>
          </a:prstGeom>
          <a:solidFill>
            <a:srgbClr val="0E1730"/>
          </a:solidFill>
          <a:ln/>
        </p:spPr>
      </p:sp>
      <p:sp>
        <p:nvSpPr>
          <p:cNvPr id="10" name="Shape 8"/>
          <p:cNvSpPr/>
          <p:nvPr/>
        </p:nvSpPr>
        <p:spPr>
          <a:xfrm>
            <a:off x="10012680" y="1600200"/>
            <a:ext cx="146304" cy="658368"/>
          </a:xfrm>
          <a:prstGeom prst="rect">
            <a:avLst/>
          </a:prstGeom>
          <a:solidFill>
            <a:srgbClr val="2E5FA3"/>
          </a:solidFill>
          <a:ln/>
        </p:spPr>
      </p:sp>
      <p:sp>
        <p:nvSpPr>
          <p:cNvPr id="11" name="Text 9"/>
          <p:cNvSpPr/>
          <p:nvPr/>
        </p:nvSpPr>
        <p:spPr>
          <a:xfrm>
            <a:off x="1234440" y="2331720"/>
            <a:ext cx="8961120" cy="274320"/>
          </a:xfrm>
          <a:prstGeom prst="rect">
            <a:avLst/>
          </a:prstGeom>
          <a:noFill/>
          <a:ln/>
        </p:spPr>
        <p:txBody>
          <a:bodyPr wrap="square" lIns="0" tIns="0" rIns="0" bIns="0" rtlCol="0" anchor="ctr"/>
          <a:lstStyle/>
          <a:p>
            <a:pPr indent="0" marL="0">
              <a:buNone/>
            </a:pPr>
            <a:r>
              <a:rPr lang="en-US" sz="1300" b="1" dirty="0">
                <a:solidFill>
                  <a:srgbClr val="2E5FA3"/>
                </a:solidFill>
                <a:latin typeface="Calibri" pitchFamily="34" charset="0"/>
                <a:ea typeface="Calibri" pitchFamily="34" charset="-122"/>
                <a:cs typeface="Calibri" pitchFamily="34" charset="-120"/>
              </a:rPr>
              <a:t>A — TIR-guided:  large |ux|, few bounces, vx close to c/n, first to arrive</a:t>
            </a:r>
            <a:endParaRPr lang="en-US" sz="1300" dirty="0"/>
          </a:p>
        </p:txBody>
      </p:sp>
      <p:sp>
        <p:nvSpPr>
          <p:cNvPr id="12" name="Shape 10"/>
          <p:cNvSpPr/>
          <p:nvPr/>
        </p:nvSpPr>
        <p:spPr>
          <a:xfrm>
            <a:off x="1234440" y="2880360"/>
            <a:ext cx="8778240" cy="713232"/>
          </a:xfrm>
          <a:prstGeom prst="rect">
            <a:avLst/>
          </a:prstGeom>
          <a:solidFill>
            <a:srgbClr val="FDF9F2"/>
          </a:solidFill>
          <a:ln w="12700">
            <a:solidFill>
              <a:srgbClr val="E8D3B0"/>
            </a:solidFill>
            <a:prstDash val="solid"/>
          </a:ln>
        </p:spPr>
      </p:sp>
      <p:sp>
        <p:nvSpPr>
          <p:cNvPr id="13" name="Shape 11"/>
          <p:cNvSpPr/>
          <p:nvPr/>
        </p:nvSpPr>
        <p:spPr>
          <a:xfrm>
            <a:off x="1234440" y="2944368"/>
            <a:ext cx="548640" cy="585216"/>
          </a:xfrm>
          <a:prstGeom prst="line">
            <a:avLst/>
          </a:prstGeom>
          <a:noFill/>
          <a:ln w="28575">
            <a:solidFill>
              <a:srgbClr val="C97A16"/>
            </a:solidFill>
            <a:prstDash val="solid"/>
          </a:ln>
        </p:spPr>
      </p:sp>
      <p:sp>
        <p:nvSpPr>
          <p:cNvPr id="14" name="Shape 12"/>
          <p:cNvSpPr/>
          <p:nvPr/>
        </p:nvSpPr>
        <p:spPr>
          <a:xfrm flipV="1">
            <a:off x="1783080" y="2944368"/>
            <a:ext cx="548640" cy="585216"/>
          </a:xfrm>
          <a:prstGeom prst="line">
            <a:avLst/>
          </a:prstGeom>
          <a:noFill/>
          <a:ln w="28575">
            <a:solidFill>
              <a:srgbClr val="C97A16"/>
            </a:solidFill>
            <a:prstDash val="solid"/>
          </a:ln>
        </p:spPr>
      </p:sp>
      <p:sp>
        <p:nvSpPr>
          <p:cNvPr id="15" name="Shape 13"/>
          <p:cNvSpPr/>
          <p:nvPr/>
        </p:nvSpPr>
        <p:spPr>
          <a:xfrm>
            <a:off x="2331720" y="2944368"/>
            <a:ext cx="548640" cy="585216"/>
          </a:xfrm>
          <a:prstGeom prst="line">
            <a:avLst/>
          </a:prstGeom>
          <a:noFill/>
          <a:ln w="28575">
            <a:solidFill>
              <a:srgbClr val="C97A16"/>
            </a:solidFill>
            <a:prstDash val="solid"/>
          </a:ln>
        </p:spPr>
      </p:sp>
      <p:sp>
        <p:nvSpPr>
          <p:cNvPr id="16" name="Shape 14"/>
          <p:cNvSpPr/>
          <p:nvPr/>
        </p:nvSpPr>
        <p:spPr>
          <a:xfrm flipV="1">
            <a:off x="2880360" y="2944368"/>
            <a:ext cx="548640" cy="585216"/>
          </a:xfrm>
          <a:prstGeom prst="line">
            <a:avLst/>
          </a:prstGeom>
          <a:noFill/>
          <a:ln w="28575">
            <a:solidFill>
              <a:srgbClr val="C97A16"/>
            </a:solidFill>
            <a:prstDash val="solid"/>
          </a:ln>
        </p:spPr>
      </p:sp>
      <p:sp>
        <p:nvSpPr>
          <p:cNvPr id="17" name="Shape 15"/>
          <p:cNvSpPr/>
          <p:nvPr/>
        </p:nvSpPr>
        <p:spPr>
          <a:xfrm>
            <a:off x="3429000" y="2944368"/>
            <a:ext cx="548640" cy="585216"/>
          </a:xfrm>
          <a:prstGeom prst="line">
            <a:avLst/>
          </a:prstGeom>
          <a:noFill/>
          <a:ln w="28575">
            <a:solidFill>
              <a:srgbClr val="C97A16"/>
            </a:solidFill>
            <a:prstDash val="solid"/>
          </a:ln>
        </p:spPr>
      </p:sp>
      <p:sp>
        <p:nvSpPr>
          <p:cNvPr id="18" name="Shape 16"/>
          <p:cNvSpPr/>
          <p:nvPr/>
        </p:nvSpPr>
        <p:spPr>
          <a:xfrm flipV="1">
            <a:off x="3977640" y="2944368"/>
            <a:ext cx="548640" cy="585216"/>
          </a:xfrm>
          <a:prstGeom prst="line">
            <a:avLst/>
          </a:prstGeom>
          <a:noFill/>
          <a:ln w="28575">
            <a:solidFill>
              <a:srgbClr val="C97A16"/>
            </a:solidFill>
            <a:prstDash val="solid"/>
          </a:ln>
        </p:spPr>
      </p:sp>
      <p:sp>
        <p:nvSpPr>
          <p:cNvPr id="19" name="Shape 17"/>
          <p:cNvSpPr/>
          <p:nvPr/>
        </p:nvSpPr>
        <p:spPr>
          <a:xfrm>
            <a:off x="4526280" y="2944368"/>
            <a:ext cx="548640" cy="585216"/>
          </a:xfrm>
          <a:prstGeom prst="line">
            <a:avLst/>
          </a:prstGeom>
          <a:noFill/>
          <a:ln w="28575">
            <a:solidFill>
              <a:srgbClr val="C97A16"/>
            </a:solidFill>
            <a:prstDash val="solid"/>
          </a:ln>
        </p:spPr>
      </p:sp>
      <p:sp>
        <p:nvSpPr>
          <p:cNvPr id="20" name="Shape 18"/>
          <p:cNvSpPr/>
          <p:nvPr/>
        </p:nvSpPr>
        <p:spPr>
          <a:xfrm flipV="1">
            <a:off x="5074920" y="2944368"/>
            <a:ext cx="548640" cy="585216"/>
          </a:xfrm>
          <a:prstGeom prst="line">
            <a:avLst/>
          </a:prstGeom>
          <a:noFill/>
          <a:ln w="28575">
            <a:solidFill>
              <a:srgbClr val="C97A16"/>
            </a:solidFill>
            <a:prstDash val="solid"/>
          </a:ln>
        </p:spPr>
      </p:sp>
      <p:sp>
        <p:nvSpPr>
          <p:cNvPr id="21" name="Shape 19"/>
          <p:cNvSpPr/>
          <p:nvPr/>
        </p:nvSpPr>
        <p:spPr>
          <a:xfrm>
            <a:off x="5623560" y="2944368"/>
            <a:ext cx="548640" cy="585216"/>
          </a:xfrm>
          <a:prstGeom prst="line">
            <a:avLst/>
          </a:prstGeom>
          <a:noFill/>
          <a:ln w="28575">
            <a:solidFill>
              <a:srgbClr val="C97A16"/>
            </a:solidFill>
            <a:prstDash val="solid"/>
          </a:ln>
        </p:spPr>
      </p:sp>
      <p:sp>
        <p:nvSpPr>
          <p:cNvPr id="22" name="Shape 20"/>
          <p:cNvSpPr/>
          <p:nvPr/>
        </p:nvSpPr>
        <p:spPr>
          <a:xfrm flipV="1">
            <a:off x="6172200" y="2944368"/>
            <a:ext cx="548640" cy="585216"/>
          </a:xfrm>
          <a:prstGeom prst="line">
            <a:avLst/>
          </a:prstGeom>
          <a:noFill/>
          <a:ln w="28575">
            <a:solidFill>
              <a:srgbClr val="C97A16"/>
            </a:solidFill>
            <a:prstDash val="solid"/>
          </a:ln>
        </p:spPr>
      </p:sp>
      <p:sp>
        <p:nvSpPr>
          <p:cNvPr id="23" name="Shape 21"/>
          <p:cNvSpPr/>
          <p:nvPr/>
        </p:nvSpPr>
        <p:spPr>
          <a:xfrm>
            <a:off x="6720840" y="2944368"/>
            <a:ext cx="548640" cy="585216"/>
          </a:xfrm>
          <a:prstGeom prst="line">
            <a:avLst/>
          </a:prstGeom>
          <a:noFill/>
          <a:ln w="28575">
            <a:solidFill>
              <a:srgbClr val="C97A16"/>
            </a:solidFill>
            <a:prstDash val="solid"/>
          </a:ln>
        </p:spPr>
      </p:sp>
      <p:sp>
        <p:nvSpPr>
          <p:cNvPr id="24" name="Shape 22"/>
          <p:cNvSpPr/>
          <p:nvPr/>
        </p:nvSpPr>
        <p:spPr>
          <a:xfrm flipV="1">
            <a:off x="7269480" y="2944368"/>
            <a:ext cx="548640" cy="585216"/>
          </a:xfrm>
          <a:prstGeom prst="line">
            <a:avLst/>
          </a:prstGeom>
          <a:noFill/>
          <a:ln w="28575">
            <a:solidFill>
              <a:srgbClr val="C97A16"/>
            </a:solidFill>
            <a:prstDash val="solid"/>
          </a:ln>
        </p:spPr>
      </p:sp>
      <p:sp>
        <p:nvSpPr>
          <p:cNvPr id="25" name="Shape 23"/>
          <p:cNvSpPr/>
          <p:nvPr/>
        </p:nvSpPr>
        <p:spPr>
          <a:xfrm>
            <a:off x="7818120" y="2944368"/>
            <a:ext cx="548640" cy="585216"/>
          </a:xfrm>
          <a:prstGeom prst="line">
            <a:avLst/>
          </a:prstGeom>
          <a:noFill/>
          <a:ln w="28575">
            <a:solidFill>
              <a:srgbClr val="C97A16"/>
            </a:solidFill>
            <a:prstDash val="solid"/>
          </a:ln>
        </p:spPr>
      </p:sp>
      <p:sp>
        <p:nvSpPr>
          <p:cNvPr id="26" name="Shape 24"/>
          <p:cNvSpPr/>
          <p:nvPr/>
        </p:nvSpPr>
        <p:spPr>
          <a:xfrm flipV="1">
            <a:off x="8366760" y="2944368"/>
            <a:ext cx="548640" cy="585216"/>
          </a:xfrm>
          <a:prstGeom prst="line">
            <a:avLst/>
          </a:prstGeom>
          <a:noFill/>
          <a:ln w="28575">
            <a:solidFill>
              <a:srgbClr val="C97A16"/>
            </a:solidFill>
            <a:prstDash val="solid"/>
          </a:ln>
        </p:spPr>
      </p:sp>
      <p:sp>
        <p:nvSpPr>
          <p:cNvPr id="27" name="Shape 25"/>
          <p:cNvSpPr/>
          <p:nvPr/>
        </p:nvSpPr>
        <p:spPr>
          <a:xfrm>
            <a:off x="8915400" y="2944368"/>
            <a:ext cx="548640" cy="585216"/>
          </a:xfrm>
          <a:prstGeom prst="line">
            <a:avLst/>
          </a:prstGeom>
          <a:noFill/>
          <a:ln w="28575">
            <a:solidFill>
              <a:srgbClr val="C97A16"/>
            </a:solidFill>
            <a:prstDash val="solid"/>
          </a:ln>
        </p:spPr>
      </p:sp>
      <p:sp>
        <p:nvSpPr>
          <p:cNvPr id="28" name="Shape 26"/>
          <p:cNvSpPr/>
          <p:nvPr/>
        </p:nvSpPr>
        <p:spPr>
          <a:xfrm flipV="1">
            <a:off x="9464040" y="2944368"/>
            <a:ext cx="548640" cy="585216"/>
          </a:xfrm>
          <a:prstGeom prst="line">
            <a:avLst/>
          </a:prstGeom>
          <a:noFill/>
          <a:ln w="28575">
            <a:solidFill>
              <a:srgbClr val="C97A16"/>
            </a:solidFill>
            <a:prstDash val="solid"/>
          </a:ln>
        </p:spPr>
      </p:sp>
      <p:sp>
        <p:nvSpPr>
          <p:cNvPr id="29" name="Shape 27"/>
          <p:cNvSpPr/>
          <p:nvPr/>
        </p:nvSpPr>
        <p:spPr>
          <a:xfrm>
            <a:off x="1115568" y="3136392"/>
            <a:ext cx="182880" cy="182880"/>
          </a:xfrm>
          <a:prstGeom prst="ellipse">
            <a:avLst/>
          </a:prstGeom>
          <a:solidFill>
            <a:srgbClr val="0E1730"/>
          </a:solidFill>
          <a:ln/>
        </p:spPr>
      </p:sp>
      <p:sp>
        <p:nvSpPr>
          <p:cNvPr id="30" name="Shape 28"/>
          <p:cNvSpPr/>
          <p:nvPr/>
        </p:nvSpPr>
        <p:spPr>
          <a:xfrm>
            <a:off x="10012680" y="2907792"/>
            <a:ext cx="146304" cy="658368"/>
          </a:xfrm>
          <a:prstGeom prst="rect">
            <a:avLst/>
          </a:prstGeom>
          <a:solidFill>
            <a:srgbClr val="2E5FA3"/>
          </a:solidFill>
          <a:ln/>
        </p:spPr>
      </p:sp>
      <p:sp>
        <p:nvSpPr>
          <p:cNvPr id="31" name="Text 29"/>
          <p:cNvSpPr/>
          <p:nvPr/>
        </p:nvSpPr>
        <p:spPr>
          <a:xfrm>
            <a:off x="1234440" y="3639312"/>
            <a:ext cx="8961120" cy="274320"/>
          </a:xfrm>
          <a:prstGeom prst="rect">
            <a:avLst/>
          </a:prstGeom>
          <a:noFill/>
          <a:ln/>
        </p:spPr>
        <p:txBody>
          <a:bodyPr wrap="square" lIns="0" tIns="0" rIns="0" bIns="0" rtlCol="0" anchor="ctr"/>
          <a:lstStyle/>
          <a:p>
            <a:pPr indent="0" marL="0">
              <a:buNone/>
            </a:pPr>
            <a:r>
              <a:rPr lang="en-US" sz="1300" b="1" dirty="0">
                <a:solidFill>
                  <a:srgbClr val="C97A16"/>
                </a:solidFill>
                <a:latin typeface="Calibri" pitchFamily="34" charset="0"/>
                <a:ea typeface="Calibri" pitchFamily="34" charset="-122"/>
                <a:cs typeface="Calibri" pitchFamily="34" charset="-120"/>
              </a:rPr>
              <a:t>B — reflector-recovered:  large transverse component, many bounces, R^N penalty, arrives late</a:t>
            </a:r>
            <a:endParaRPr lang="en-US" sz="1300" dirty="0"/>
          </a:p>
        </p:txBody>
      </p:sp>
      <p:sp>
        <p:nvSpPr>
          <p:cNvPr id="32" name="Text 30"/>
          <p:cNvSpPr/>
          <p:nvPr/>
        </p:nvSpPr>
        <p:spPr>
          <a:xfrm>
            <a:off x="10241280" y="2194560"/>
            <a:ext cx="1097280" cy="274320"/>
          </a:xfrm>
          <a:prstGeom prst="rect">
            <a:avLst/>
          </a:prstGeom>
          <a:noFill/>
          <a:ln/>
        </p:spPr>
        <p:txBody>
          <a:bodyPr wrap="square" lIns="0" tIns="0" rIns="0" bIns="0" rtlCol="0" anchor="ctr"/>
          <a:lstStyle/>
          <a:p>
            <a:pPr indent="0" marL="0">
              <a:buNone/>
            </a:pPr>
            <a:r>
              <a:rPr lang="en-US" sz="1200" b="1" dirty="0">
                <a:solidFill>
                  <a:srgbClr val="5A6478"/>
                </a:solidFill>
                <a:latin typeface="Calibri" pitchFamily="34" charset="0"/>
                <a:ea typeface="Calibri" pitchFamily="34" charset="-122"/>
                <a:cs typeface="Calibri" pitchFamily="34" charset="-120"/>
              </a:rPr>
              <a:t>END</a:t>
            </a:r>
            <a:endParaRPr lang="en-US" sz="1200" dirty="0"/>
          </a:p>
        </p:txBody>
      </p:sp>
      <p:sp>
        <p:nvSpPr>
          <p:cNvPr id="33" name="Shape 31"/>
          <p:cNvSpPr/>
          <p:nvPr/>
        </p:nvSpPr>
        <p:spPr>
          <a:xfrm>
            <a:off x="566928" y="4160520"/>
            <a:ext cx="5349240" cy="1234440"/>
          </a:xfrm>
          <a:prstGeom prst="roundRect">
            <a:avLst>
              <a:gd name="adj" fmla="val 3704"/>
            </a:avLst>
          </a:prstGeom>
          <a:solidFill>
            <a:srgbClr val="E9F2FA"/>
          </a:solidFill>
          <a:ln/>
        </p:spPr>
      </p:sp>
      <p:sp>
        <p:nvSpPr>
          <p:cNvPr id="34" name="Text 32"/>
          <p:cNvSpPr/>
          <p:nvPr/>
        </p:nvSpPr>
        <p:spPr>
          <a:xfrm>
            <a:off x="822960" y="4325112"/>
            <a:ext cx="4837176" cy="237744"/>
          </a:xfrm>
          <a:prstGeom prst="rect">
            <a:avLst/>
          </a:prstGeom>
          <a:noFill/>
          <a:ln/>
        </p:spPr>
        <p:txBody>
          <a:bodyPr wrap="square" lIns="0" tIns="0" rIns="0" bIns="0" rtlCol="0" anchor="ctr"/>
          <a:lstStyle/>
          <a:p>
            <a:pPr indent="0" marL="0">
              <a:buNone/>
            </a:pPr>
            <a:r>
              <a:rPr lang="en-US" sz="1050" b="1" spc="130" kern="0" dirty="0">
                <a:solidFill>
                  <a:srgbClr val="2E5FA3"/>
                </a:solidFill>
                <a:latin typeface="Calibri" pitchFamily="34" charset="0"/>
                <a:ea typeface="Calibri" pitchFamily="34" charset="-122"/>
                <a:cs typeface="Calibri" pitchFamily="34" charset="-120"/>
              </a:rPr>
              <a:t>WHAT THE REFLECTOR BUYS</a:t>
            </a:r>
            <a:endParaRPr lang="en-US" sz="1050" dirty="0"/>
          </a:p>
        </p:txBody>
      </p:sp>
      <p:sp>
        <p:nvSpPr>
          <p:cNvPr id="35" name="Text 33"/>
          <p:cNvSpPr/>
          <p:nvPr/>
        </p:nvSpPr>
        <p:spPr>
          <a:xfrm>
            <a:off x="822960" y="4617720"/>
            <a:ext cx="4837176" cy="594360"/>
          </a:xfrm>
          <a:prstGeom prst="rect">
            <a:avLst/>
          </a:prstGeom>
          <a:noFill/>
          <a:ln/>
        </p:spPr>
        <p:txBody>
          <a:bodyPr wrap="square" lIns="0" tIns="0" rIns="0" bIns="0" rtlCol="0" anchor="t"/>
          <a:lstStyle/>
          <a:p>
            <a:pPr indent="0" marL="0">
              <a:lnSpc>
                <a:spcPts val="2000"/>
              </a:lnSpc>
              <a:buNone/>
            </a:pPr>
            <a:r>
              <a:rPr lang="en-US" sz="1350" dirty="0">
                <a:solidFill>
                  <a:srgbClr val="0E1730"/>
                </a:solidFill>
                <a:latin typeface="Calibri" pitchFamily="34" charset="0"/>
                <a:ea typeface="Calibri" pitchFamily="34" charset="-122"/>
                <a:cs typeface="Calibri" pitchFamily="34" charset="-120"/>
              </a:rPr>
              <a:t>A large increase in total collected light, concentrated in the late part of the arrival distribution.</a:t>
            </a:r>
            <a:endParaRPr lang="en-US" sz="1350" dirty="0"/>
          </a:p>
        </p:txBody>
      </p:sp>
      <p:sp>
        <p:nvSpPr>
          <p:cNvPr id="36" name="Shape 34"/>
          <p:cNvSpPr/>
          <p:nvPr/>
        </p:nvSpPr>
        <p:spPr>
          <a:xfrm>
            <a:off x="6190488" y="4160520"/>
            <a:ext cx="5349240" cy="1234440"/>
          </a:xfrm>
          <a:prstGeom prst="roundRect">
            <a:avLst>
              <a:gd name="adj" fmla="val 3704"/>
            </a:avLst>
          </a:prstGeom>
          <a:solidFill>
            <a:srgbClr val="FBF0DE"/>
          </a:solidFill>
          <a:ln/>
        </p:spPr>
      </p:sp>
      <p:sp>
        <p:nvSpPr>
          <p:cNvPr id="37" name="Text 35"/>
          <p:cNvSpPr/>
          <p:nvPr/>
        </p:nvSpPr>
        <p:spPr>
          <a:xfrm>
            <a:off x="6446520" y="4325112"/>
            <a:ext cx="4837176"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WHAT IT DOES NOT BUY</a:t>
            </a:r>
            <a:endParaRPr lang="en-US" sz="1050" dirty="0"/>
          </a:p>
        </p:txBody>
      </p:sp>
      <p:sp>
        <p:nvSpPr>
          <p:cNvPr id="38" name="Text 36"/>
          <p:cNvSpPr/>
          <p:nvPr/>
        </p:nvSpPr>
        <p:spPr>
          <a:xfrm>
            <a:off x="6446520" y="4617720"/>
            <a:ext cx="4837176" cy="594360"/>
          </a:xfrm>
          <a:prstGeom prst="rect">
            <a:avLst/>
          </a:prstGeom>
          <a:noFill/>
          <a:ln/>
        </p:spPr>
        <p:txBody>
          <a:bodyPr wrap="square" lIns="0" tIns="0" rIns="0" bIns="0" rtlCol="0" anchor="t"/>
          <a:lstStyle/>
          <a:p>
            <a:pPr indent="0" marL="0">
              <a:lnSpc>
                <a:spcPts val="2000"/>
              </a:lnSpc>
              <a:buNone/>
            </a:pPr>
            <a:r>
              <a:rPr lang="en-US" sz="1350" dirty="0">
                <a:solidFill>
                  <a:srgbClr val="0E1730"/>
                </a:solidFill>
                <a:latin typeface="Calibri" pitchFamily="34" charset="0"/>
                <a:ea typeface="Calibri" pitchFamily="34" charset="-122"/>
                <a:cs typeface="Calibri" pitchFamily="34" charset="-120"/>
              </a:rPr>
              <a:t>A proportional improvement in the statistics of the earliest photons, which is what a leading-edge estimator uses.</a:t>
            </a:r>
            <a:endParaRPr lang="en-US" sz="1350" dirty="0"/>
          </a:p>
        </p:txBody>
      </p:sp>
      <p:sp>
        <p:nvSpPr>
          <p:cNvPr id="39" name="Shape 37"/>
          <p:cNvSpPr/>
          <p:nvPr/>
        </p:nvSpPr>
        <p:spPr>
          <a:xfrm>
            <a:off x="566928" y="5532120"/>
            <a:ext cx="10972800" cy="685800"/>
          </a:xfrm>
          <a:prstGeom prst="roundRect">
            <a:avLst>
              <a:gd name="adj" fmla="val 6667"/>
            </a:avLst>
          </a:prstGeom>
          <a:solidFill>
            <a:srgbClr val="0E1730"/>
          </a:solidFill>
          <a:ln/>
        </p:spPr>
      </p:sp>
      <p:sp>
        <p:nvSpPr>
          <p:cNvPr id="40" name="Text 38"/>
          <p:cNvSpPr/>
          <p:nvPr/>
        </p:nvSpPr>
        <p:spPr>
          <a:xfrm>
            <a:off x="566928" y="5532120"/>
            <a:ext cx="10972800" cy="685800"/>
          </a:xfrm>
          <a:prstGeom prst="rect">
            <a:avLst/>
          </a:prstGeom>
          <a:noFill/>
          <a:ln/>
        </p:spPr>
        <p:txBody>
          <a:bodyPr wrap="square" lIns="0" tIns="0" rIns="0" bIns="0" rtlCol="0" anchor="ctr"/>
          <a:lstStyle/>
          <a:p>
            <a:pPr algn="ctr" indent="0" marL="0">
              <a:buNone/>
            </a:pPr>
            <a:r>
              <a:rPr lang="en-US" sz="1900" dirty="0">
                <a:solidFill>
                  <a:srgbClr val="1FA5C8"/>
                </a:solidFill>
                <a:latin typeface="Cambria" pitchFamily="34" charset="0"/>
                <a:ea typeface="Cambria" pitchFamily="34" charset="-122"/>
                <a:cs typeface="Cambria" pitchFamily="34" charset="-120"/>
              </a:rPr>
              <a:t>Total Npe  ≠  timing information carried by the first photons</a:t>
            </a:r>
            <a:endParaRPr lang="en-US" sz="1900" dirty="0"/>
          </a:p>
        </p:txBody>
      </p:sp>
      <p:sp>
        <p:nvSpPr>
          <p:cNvPr id="41" name="Text 39"/>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42" name="Text 40"/>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A CAMPAIGN WE HAVE NOT RUN</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Specular or diffuse? The napkin gives us a falsifiable prediction</a:t>
            </a:r>
            <a:endParaRPr lang="en-US" sz="2600" dirty="0"/>
          </a:p>
        </p:txBody>
      </p:sp>
      <p:sp>
        <p:nvSpPr>
          <p:cNvPr id="4" name="Shape 2"/>
          <p:cNvSpPr/>
          <p:nvPr/>
        </p:nvSpPr>
        <p:spPr>
          <a:xfrm>
            <a:off x="566928" y="1572768"/>
            <a:ext cx="5349240" cy="2286000"/>
          </a:xfrm>
          <a:prstGeom prst="roundRect">
            <a:avLst>
              <a:gd name="adj" fmla="val 2000"/>
            </a:avLst>
          </a:prstGeom>
          <a:solidFill>
            <a:srgbClr val="E9F2FA"/>
          </a:solidFill>
          <a:ln/>
        </p:spPr>
      </p:sp>
      <p:sp>
        <p:nvSpPr>
          <p:cNvPr id="5" name="Text 3"/>
          <p:cNvSpPr/>
          <p:nvPr/>
        </p:nvSpPr>
        <p:spPr>
          <a:xfrm>
            <a:off x="822960" y="1737360"/>
            <a:ext cx="4837176" cy="237744"/>
          </a:xfrm>
          <a:prstGeom prst="rect">
            <a:avLst/>
          </a:prstGeom>
          <a:noFill/>
          <a:ln/>
        </p:spPr>
        <p:txBody>
          <a:bodyPr wrap="square" lIns="0" tIns="0" rIns="0" bIns="0" rtlCol="0" anchor="ctr"/>
          <a:lstStyle/>
          <a:p>
            <a:pPr indent="0" marL="0">
              <a:buNone/>
            </a:pPr>
            <a:r>
              <a:rPr lang="en-US" sz="1050" b="1" spc="130" kern="0" dirty="0">
                <a:solidFill>
                  <a:srgbClr val="2E5FA3"/>
                </a:solidFill>
                <a:latin typeface="Calibri" pitchFamily="34" charset="0"/>
                <a:ea typeface="Calibri" pitchFamily="34" charset="-122"/>
                <a:cs typeface="Calibri" pitchFamily="34" charset="-120"/>
              </a:rPr>
              <a:t>SPECULAR — VIKUITI 3M ESR</a:t>
            </a:r>
            <a:endParaRPr lang="en-US" sz="1050" dirty="0"/>
          </a:p>
        </p:txBody>
      </p:sp>
      <p:sp>
        <p:nvSpPr>
          <p:cNvPr id="6" name="Text 4"/>
          <p:cNvSpPr/>
          <p:nvPr/>
        </p:nvSpPr>
        <p:spPr>
          <a:xfrm>
            <a:off x="822960" y="2029968"/>
            <a:ext cx="4837176" cy="164592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Preserves the angle of incidence, so a photon outside the acceptance of the readout face is never redirected into it.</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It also preserves short paths, keeping the dispersion of tprop small.</a:t>
            </a:r>
            <a:endParaRPr lang="en-US" sz="1400" dirty="0"/>
          </a:p>
        </p:txBody>
      </p:sp>
      <p:sp>
        <p:nvSpPr>
          <p:cNvPr id="7" name="Shape 5"/>
          <p:cNvSpPr/>
          <p:nvPr/>
        </p:nvSpPr>
        <p:spPr>
          <a:xfrm>
            <a:off x="6190488" y="1572768"/>
            <a:ext cx="5349240" cy="2286000"/>
          </a:xfrm>
          <a:prstGeom prst="roundRect">
            <a:avLst>
              <a:gd name="adj" fmla="val 2000"/>
            </a:avLst>
          </a:prstGeom>
          <a:solidFill>
            <a:srgbClr val="FBF0DE"/>
          </a:solidFill>
          <a:ln/>
        </p:spPr>
      </p:sp>
      <p:sp>
        <p:nvSpPr>
          <p:cNvPr id="8" name="Text 6"/>
          <p:cNvSpPr/>
          <p:nvPr/>
        </p:nvSpPr>
        <p:spPr>
          <a:xfrm>
            <a:off x="6446520" y="1737360"/>
            <a:ext cx="4837176"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DIFFUSE — TEFLON, TIO₂, MGO</a:t>
            </a:r>
            <a:endParaRPr lang="en-US" sz="1050" dirty="0"/>
          </a:p>
        </p:txBody>
      </p:sp>
      <p:sp>
        <p:nvSpPr>
          <p:cNvPr id="9" name="Text 7"/>
          <p:cNvSpPr/>
          <p:nvPr/>
        </p:nvSpPr>
        <p:spPr>
          <a:xfrm>
            <a:off x="6446520" y="2029968"/>
            <a:ext cx="4837176" cy="1645920"/>
          </a:xfrm>
          <a:prstGeom prst="rect">
            <a:avLst/>
          </a:prstGeom>
          <a:noFill/>
          <a:ln/>
        </p:spPr>
        <p:txBody>
          <a:bodyPr wrap="square" lIns="0" tIns="0" rIns="0" bIns="0" rtlCol="0" anchor="t"/>
          <a:lstStyle/>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Lambert's law, dI/dΩ ∝ cos ψ: the outgoing direction is essentially independent of the incoming one.</a:t>
            </a:r>
            <a:endParaRPr lang="en-US" sz="1400" dirty="0"/>
          </a:p>
          <a:p>
            <a:pPr indent="0" marL="0">
              <a:lnSpc>
                <a:spcPts val="2000"/>
              </a:lnSpc>
              <a:buNone/>
            </a:pPr>
            <a:r>
              <a:rPr lang="en-US" sz="1400" dirty="0">
                <a:solidFill>
                  <a:srgbClr val="0E1730"/>
                </a:solidFill>
                <a:latin typeface="Calibri" pitchFamily="34" charset="0"/>
                <a:ea typeface="Calibri" pitchFamily="34" charset="-122"/>
                <a:cs typeface="Calibri" pitchFamily="34" charset="-120"/>
              </a:rPr>
              <a:t>Every bounce is a fresh chance to be redirected towards a readout window, at the cost of a broader path-length distribution.</a:t>
            </a:r>
            <a:endParaRPr lang="en-US" sz="1400" dirty="0"/>
          </a:p>
        </p:txBody>
      </p:sp>
      <p:sp>
        <p:nvSpPr>
          <p:cNvPr id="10" name="Shape 8"/>
          <p:cNvSpPr/>
          <p:nvPr/>
        </p:nvSpPr>
        <p:spPr>
          <a:xfrm>
            <a:off x="566928" y="4114800"/>
            <a:ext cx="10972800" cy="1143000"/>
          </a:xfrm>
          <a:prstGeom prst="roundRect">
            <a:avLst>
              <a:gd name="adj" fmla="val 4000"/>
            </a:avLst>
          </a:prstGeom>
          <a:solidFill>
            <a:srgbClr val="0E1730"/>
          </a:solidFill>
          <a:ln/>
        </p:spPr>
      </p:sp>
      <p:sp>
        <p:nvSpPr>
          <p:cNvPr id="11" name="Text 9"/>
          <p:cNvSpPr/>
          <p:nvPr/>
        </p:nvSpPr>
        <p:spPr>
          <a:xfrm>
            <a:off x="914400" y="4114800"/>
            <a:ext cx="10332720" cy="1143000"/>
          </a:xfrm>
          <a:prstGeom prst="rect">
            <a:avLst/>
          </a:prstGeom>
          <a:noFill/>
          <a:ln/>
        </p:spPr>
        <p:txBody>
          <a:bodyPr wrap="square" lIns="0" tIns="0" rIns="0" bIns="0" rtlCol="0" anchor="ctr"/>
          <a:lstStyle/>
          <a:p>
            <a:pPr indent="0" marL="0">
              <a:lnSpc>
                <a:spcPts val="2200"/>
              </a:lnSpc>
              <a:buNone/>
            </a:pPr>
            <a:r>
              <a:rPr lang="en-US" sz="1600" dirty="0">
                <a:solidFill>
                  <a:srgbClr val="1FA5C8"/>
                </a:solidFill>
                <a:latin typeface="Cambria" pitchFamily="34" charset="0"/>
                <a:ea typeface="Cambria" pitchFamily="34" charset="-122"/>
                <a:cs typeface="Cambria" pitchFamily="34" charset="-120"/>
              </a:rPr>
              <a:t>Napkin hypothesis: at comparable reflectivity, diffuse scattering should raise the probability of redirecting photons into a readout window, and should broaden tprop. One campaign, one variable, prediction on record.</a:t>
            </a:r>
            <a:endParaRPr lang="en-US" sz="1600" dirty="0"/>
          </a:p>
        </p:txBody>
      </p:sp>
      <p:sp>
        <p:nvSpPr>
          <p:cNvPr id="12" name="Text 10"/>
          <p:cNvSpPr/>
          <p:nvPr/>
        </p:nvSpPr>
        <p:spPr>
          <a:xfrm>
            <a:off x="566928" y="5440680"/>
            <a:ext cx="10972800" cy="822960"/>
          </a:xfrm>
          <a:prstGeom prst="rect">
            <a:avLst/>
          </a:prstGeom>
          <a:noFill/>
          <a:ln/>
        </p:spPr>
        <p:txBody>
          <a:bodyPr wrap="square" lIns="0" tIns="0" rIns="0" bIns="0" rtlCol="0" anchor="t"/>
          <a:lstStyle/>
          <a:p>
            <a:pPr indent="0" marL="0">
              <a:lnSpc>
                <a:spcPts val="1700"/>
              </a:lnSpc>
              <a:buNone/>
            </a:pPr>
            <a:r>
              <a:rPr lang="en-US" sz="1200" i="1" dirty="0">
                <a:solidFill>
                  <a:srgbClr val="5A6478"/>
                </a:solidFill>
                <a:latin typeface="Calibri" pitchFamily="34" charset="0"/>
                <a:ea typeface="Calibri" pitchFamily="34" charset="-122"/>
                <a:cs typeface="Calibri" pitchFamily="34" charset="-120"/>
              </a:rPr>
              <a:t>Stated as a hypothesis, not a conclusion: a real diffuse wrapping differs from a specular one in spectral reflectivity, absorption and surface finish, not only in angular law. Knoll reports diffuse reflectors generally collect light better — but that comparison is made on light yield, not on timing. Kilvington's data (Knoll Fig. 8.17) show TIR with a reflective covering sitting systematically above TIR alone, both falling with guide length.</a:t>
            </a:r>
            <a:endParaRPr lang="en-US" sz="1200" dirty="0"/>
          </a:p>
        </p:txBody>
      </p:sp>
      <p:sp>
        <p:nvSpPr>
          <p:cNvPr id="13" name="Text 11"/>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      |      Knoll Eq. 8.13 and Fig. 8.17 (Kilvington et al.)</a:t>
            </a:r>
            <a:endParaRPr lang="en-US" sz="900" dirty="0"/>
          </a:p>
        </p:txBody>
      </p:sp>
      <p:sp>
        <p:nvSpPr>
          <p:cNvPr id="14" name="Text 12"/>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THE OPEN QUESTION</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Why assume the first photon is optimal?</a:t>
            </a:r>
            <a:endParaRPr lang="en-US" sz="2600" dirty="0"/>
          </a:p>
        </p:txBody>
      </p:sp>
      <p:sp>
        <p:nvSpPr>
          <p:cNvPr id="4" name="Shape 2"/>
          <p:cNvSpPr/>
          <p:nvPr/>
        </p:nvSpPr>
        <p:spPr>
          <a:xfrm>
            <a:off x="566928" y="1536192"/>
            <a:ext cx="5943600" cy="1143000"/>
          </a:xfrm>
          <a:prstGeom prst="roundRect">
            <a:avLst>
              <a:gd name="adj" fmla="val 4800"/>
            </a:avLst>
          </a:prstGeom>
          <a:solidFill>
            <a:srgbClr val="F2F4F8"/>
          </a:solidFill>
          <a:ln/>
        </p:spPr>
      </p:sp>
      <p:sp>
        <p:nvSpPr>
          <p:cNvPr id="5" name="Text 3"/>
          <p:cNvSpPr/>
          <p:nvPr/>
        </p:nvSpPr>
        <p:spPr>
          <a:xfrm>
            <a:off x="822960" y="1536192"/>
            <a:ext cx="5486400" cy="1143000"/>
          </a:xfrm>
          <a:prstGeom prst="rect">
            <a:avLst/>
          </a:prstGeom>
          <a:noFill/>
          <a:ln/>
        </p:spPr>
        <p:txBody>
          <a:bodyPr wrap="square" lIns="0" tIns="0" rIns="0" bIns="0" rtlCol="0" anchor="ctr"/>
          <a:lstStyle/>
          <a:p>
            <a:pPr indent="0" marL="0">
              <a:lnSpc>
                <a:spcPts val="2600"/>
              </a:lnSpc>
              <a:buNone/>
            </a:pPr>
            <a:r>
              <a:rPr lang="en-US" sz="1550" i="1" dirty="0">
                <a:solidFill>
                  <a:srgbClr val="0E1730"/>
                </a:solidFill>
                <a:latin typeface="Cambria" pitchFamily="34" charset="0"/>
                <a:ea typeface="Cambria" pitchFamily="34" charset="-122"/>
                <a:cs typeface="Cambria" pitchFamily="34" charset="-120"/>
              </a:rPr>
              <a:t>T0⁽¹⁾ = ( tL⁽¹⁾ + tR⁽¹⁾ ) / 2   →   σ ≈ 58.6 ps</a:t>
            </a:r>
            <a:endParaRPr lang="en-US" sz="1550" dirty="0"/>
          </a:p>
        </p:txBody>
      </p:sp>
      <p:sp>
        <p:nvSpPr>
          <p:cNvPr id="6" name="Shape 4"/>
          <p:cNvSpPr/>
          <p:nvPr/>
        </p:nvSpPr>
        <p:spPr>
          <a:xfrm>
            <a:off x="566928" y="2834640"/>
            <a:ext cx="5943600" cy="1417320"/>
          </a:xfrm>
          <a:prstGeom prst="roundRect">
            <a:avLst>
              <a:gd name="adj" fmla="val 3226"/>
            </a:avLst>
          </a:prstGeom>
          <a:solidFill>
            <a:srgbClr val="E9F2FA"/>
          </a:solidFill>
          <a:ln/>
        </p:spPr>
      </p:sp>
      <p:sp>
        <p:nvSpPr>
          <p:cNvPr id="7" name="Text 5"/>
          <p:cNvSpPr/>
          <p:nvPr/>
        </p:nvSpPr>
        <p:spPr>
          <a:xfrm>
            <a:off x="822960" y="2999232"/>
            <a:ext cx="5431536"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EVIDENCE THAT K = 1 NEED NOT BE THE OPTIMUM</a:t>
            </a:r>
            <a:endParaRPr lang="en-US" sz="1050" dirty="0"/>
          </a:p>
        </p:txBody>
      </p:sp>
      <p:sp>
        <p:nvSpPr>
          <p:cNvPr id="8" name="Text 6"/>
          <p:cNvSpPr/>
          <p:nvPr/>
        </p:nvSpPr>
        <p:spPr>
          <a:xfrm>
            <a:off x="822960" y="3291840"/>
            <a:ext cx="5431536" cy="777240"/>
          </a:xfrm>
          <a:prstGeom prst="rect">
            <a:avLst/>
          </a:prstGeom>
          <a:noFill/>
          <a:ln/>
        </p:spPr>
        <p:txBody>
          <a:bodyPr wrap="square" lIns="0" tIns="0" rIns="0" bIns="0" rtlCol="0" anchor="t"/>
          <a:lstStyle/>
          <a:p>
            <a:pPr indent="0" marL="0">
              <a:lnSpc>
                <a:spcPts val="2000"/>
              </a:lnSpc>
              <a:buNone/>
            </a:pPr>
            <a:r>
              <a:rPr lang="en-US" sz="1350" dirty="0">
                <a:solidFill>
                  <a:srgbClr val="0E1730"/>
                </a:solidFill>
                <a:latin typeface="Calibri" pitchFamily="34" charset="0"/>
                <a:ea typeface="Calibri" pitchFamily="34" charset="-122"/>
                <a:cs typeface="Calibri" pitchFamily="34" charset="-120"/>
              </a:rPr>
              <a:t>In an independent EJ-228 cylinder study σ(k) is non-monotonic, with an optimum near k ≈ 8. The number does not transfer to a 1.4 m bar — the principle does.</a:t>
            </a:r>
            <a:endParaRPr lang="en-US" sz="1350" dirty="0"/>
          </a:p>
        </p:txBody>
      </p:sp>
      <p:sp>
        <p:nvSpPr>
          <p:cNvPr id="9" name="Text 7"/>
          <p:cNvSpPr/>
          <p:nvPr/>
        </p:nvSpPr>
        <p:spPr>
          <a:xfrm>
            <a:off x="566928" y="4480560"/>
            <a:ext cx="6035040" cy="822960"/>
          </a:xfrm>
          <a:prstGeom prst="rect">
            <a:avLst/>
          </a:prstGeom>
          <a:noFill/>
          <a:ln/>
        </p:spPr>
        <p:txBody>
          <a:bodyPr wrap="square" lIns="0" tIns="0" rIns="0" bIns="0" rtlCol="0" anchor="t"/>
          <a:lstStyle/>
          <a:p>
            <a:pPr indent="0" marL="0">
              <a:lnSpc>
                <a:spcPts val="2300"/>
              </a:lnSpc>
              <a:buNone/>
            </a:pPr>
            <a:r>
              <a:rPr lang="en-US" sz="1600" i="1" dirty="0">
                <a:solidFill>
                  <a:srgbClr val="2E5FA3"/>
                </a:solidFill>
                <a:latin typeface="Cambria" pitchFamily="34" charset="0"/>
                <a:ea typeface="Cambria" pitchFamily="34" charset="-122"/>
                <a:cs typeface="Cambria" pitchFamily="34" charset="-120"/>
              </a:rPr>
              <a:t>How much timing information are we throwing away by using only t⁽¹⁾ ?</a:t>
            </a:r>
            <a:endParaRPr lang="en-US" sz="1600" dirty="0"/>
          </a:p>
        </p:txBody>
      </p:sp>
      <p:sp>
        <p:nvSpPr>
          <p:cNvPr id="10" name="Shape 8"/>
          <p:cNvSpPr/>
          <p:nvPr/>
        </p:nvSpPr>
        <p:spPr>
          <a:xfrm>
            <a:off x="6766560" y="1536192"/>
            <a:ext cx="4773168" cy="1170432"/>
          </a:xfrm>
          <a:prstGeom prst="roundRect">
            <a:avLst>
              <a:gd name="adj" fmla="val 3906"/>
            </a:avLst>
          </a:prstGeom>
          <a:solidFill>
            <a:srgbClr val="F2F4F8"/>
          </a:solidFill>
          <a:ln/>
        </p:spPr>
      </p:sp>
      <p:sp>
        <p:nvSpPr>
          <p:cNvPr id="11" name="Text 9"/>
          <p:cNvSpPr/>
          <p:nvPr/>
        </p:nvSpPr>
        <p:spPr>
          <a:xfrm>
            <a:off x="7022592" y="1700784"/>
            <a:ext cx="4261104" cy="237744"/>
          </a:xfrm>
          <a:prstGeom prst="rect">
            <a:avLst/>
          </a:prstGeom>
          <a:noFill/>
          <a:ln/>
        </p:spPr>
        <p:txBody>
          <a:bodyPr wrap="square" lIns="0" tIns="0" rIns="0" bIns="0" rtlCol="0" anchor="ctr"/>
          <a:lstStyle/>
          <a:p>
            <a:pPr indent="0" marL="0">
              <a:buNone/>
            </a:pPr>
            <a:r>
              <a:rPr lang="en-US" sz="1050" b="1" spc="130" kern="0" dirty="0">
                <a:solidFill>
                  <a:srgbClr val="2E5FA3"/>
                </a:solidFill>
                <a:latin typeface="Calibri" pitchFamily="34" charset="0"/>
                <a:ea typeface="Calibri" pitchFamily="34" charset="-122"/>
                <a:cs typeface="Calibri" pitchFamily="34" charset="-120"/>
              </a:rPr>
              <a:t>ORDER STATISTICS</a:t>
            </a:r>
            <a:endParaRPr lang="en-US" sz="1050" dirty="0"/>
          </a:p>
        </p:txBody>
      </p:sp>
      <p:sp>
        <p:nvSpPr>
          <p:cNvPr id="12" name="Text 10"/>
          <p:cNvSpPr/>
          <p:nvPr/>
        </p:nvSpPr>
        <p:spPr>
          <a:xfrm>
            <a:off x="7022592" y="1993392"/>
            <a:ext cx="4261104" cy="530352"/>
          </a:xfrm>
          <a:prstGeom prst="rect">
            <a:avLst/>
          </a:prstGeom>
          <a:noFill/>
          <a:ln/>
        </p:spPr>
        <p:txBody>
          <a:bodyPr wrap="square" lIns="0" tIns="0" rIns="0" bIns="0" rtlCol="0" anchor="t"/>
          <a:lstStyle/>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t⁽ᵏ⁾ for k = 1 … 100;  fractional rank k ≈ f · Npe</a:t>
            </a:r>
            <a:endParaRPr lang="en-US" sz="1300" dirty="0"/>
          </a:p>
        </p:txBody>
      </p:sp>
      <p:sp>
        <p:nvSpPr>
          <p:cNvPr id="13" name="Shape 11"/>
          <p:cNvSpPr/>
          <p:nvPr/>
        </p:nvSpPr>
        <p:spPr>
          <a:xfrm>
            <a:off x="6766560" y="2834640"/>
            <a:ext cx="4773168" cy="1170432"/>
          </a:xfrm>
          <a:prstGeom prst="roundRect">
            <a:avLst>
              <a:gd name="adj" fmla="val 3906"/>
            </a:avLst>
          </a:prstGeom>
          <a:solidFill>
            <a:srgbClr val="F2F4F8"/>
          </a:solidFill>
          <a:ln/>
        </p:spPr>
      </p:sp>
      <p:sp>
        <p:nvSpPr>
          <p:cNvPr id="14" name="Text 12"/>
          <p:cNvSpPr/>
          <p:nvPr/>
        </p:nvSpPr>
        <p:spPr>
          <a:xfrm>
            <a:off x="7022592" y="2999232"/>
            <a:ext cx="4261104" cy="237744"/>
          </a:xfrm>
          <a:prstGeom prst="rect">
            <a:avLst/>
          </a:prstGeom>
          <a:noFill/>
          <a:ln/>
        </p:spPr>
        <p:txBody>
          <a:bodyPr wrap="square" lIns="0" tIns="0" rIns="0" bIns="0" rtlCol="0" anchor="ctr"/>
          <a:lstStyle/>
          <a:p>
            <a:pPr indent="0" marL="0">
              <a:buNone/>
            </a:pPr>
            <a:r>
              <a:rPr lang="en-US" sz="1050" b="1" spc="130" kern="0" dirty="0">
                <a:solidFill>
                  <a:srgbClr val="1FA5C8"/>
                </a:solidFill>
                <a:latin typeface="Calibri" pitchFamily="34" charset="0"/>
                <a:ea typeface="Calibri" pitchFamily="34" charset="-122"/>
                <a:cs typeface="Calibri" pitchFamily="34" charset="-120"/>
              </a:rPr>
              <a:t>MULTI-PHOTON ESTIMATORS</a:t>
            </a:r>
            <a:endParaRPr lang="en-US" sz="1050" dirty="0"/>
          </a:p>
        </p:txBody>
      </p:sp>
      <p:sp>
        <p:nvSpPr>
          <p:cNvPr id="15" name="Text 13"/>
          <p:cNvSpPr/>
          <p:nvPr/>
        </p:nvSpPr>
        <p:spPr>
          <a:xfrm>
            <a:off x="7022592" y="3291840"/>
            <a:ext cx="4261104" cy="530352"/>
          </a:xfrm>
          <a:prstGeom prst="rect">
            <a:avLst/>
          </a:prstGeom>
          <a:noFill/>
          <a:ln/>
        </p:spPr>
        <p:txBody>
          <a:bodyPr wrap="square" lIns="0" tIns="0" rIns="0" bIns="0" rtlCol="0" anchor="t"/>
          <a:lstStyle/>
          <a:p>
            <a:pPr indent="0" marL="0">
              <a:lnSpc>
                <a:spcPts val="2000"/>
              </a:lnSpc>
              <a:buNone/>
            </a:pPr>
            <a:r>
              <a:rPr lang="en-US" sz="1250" dirty="0">
                <a:solidFill>
                  <a:srgbClr val="0E1730"/>
                </a:solidFill>
                <a:latin typeface="Calibri" pitchFamily="34" charset="0"/>
                <a:ea typeface="Calibri" pitchFamily="34" charset="-122"/>
                <a:cs typeface="Calibri" pitchFamily="34" charset="-120"/>
              </a:rPr>
              <a:t>mean / median / trimmed mean of the first m;  Σ wi ti;  accumulated-PE threshold;  digital CFD;  temporal template</a:t>
            </a:r>
            <a:endParaRPr lang="en-US" sz="1250" dirty="0"/>
          </a:p>
        </p:txBody>
      </p:sp>
      <p:sp>
        <p:nvSpPr>
          <p:cNvPr id="16" name="Shape 14"/>
          <p:cNvSpPr/>
          <p:nvPr/>
        </p:nvSpPr>
        <p:spPr>
          <a:xfrm>
            <a:off x="6766560" y="4133088"/>
            <a:ext cx="4773168" cy="1170432"/>
          </a:xfrm>
          <a:prstGeom prst="roundRect">
            <a:avLst>
              <a:gd name="adj" fmla="val 3906"/>
            </a:avLst>
          </a:prstGeom>
          <a:solidFill>
            <a:srgbClr val="F2F4F8"/>
          </a:solidFill>
          <a:ln/>
        </p:spPr>
      </p:sp>
      <p:sp>
        <p:nvSpPr>
          <p:cNvPr id="17" name="Text 15"/>
          <p:cNvSpPr/>
          <p:nvPr/>
        </p:nvSpPr>
        <p:spPr>
          <a:xfrm>
            <a:off x="7022592" y="4297680"/>
            <a:ext cx="4261104" cy="237744"/>
          </a:xfrm>
          <a:prstGeom prst="rect">
            <a:avLst/>
          </a:prstGeom>
          <a:noFill/>
          <a:ln/>
        </p:spPr>
        <p:txBody>
          <a:bodyPr wrap="square" lIns="0" tIns="0" rIns="0" bIns="0" rtlCol="0" anchor="ctr"/>
          <a:lstStyle/>
          <a:p>
            <a:pPr indent="0" marL="0">
              <a:buNone/>
            </a:pPr>
            <a:r>
              <a:rPr lang="en-US" sz="1050" b="1" spc="130" kern="0" dirty="0">
                <a:solidFill>
                  <a:srgbClr val="C97A16"/>
                </a:solidFill>
                <a:latin typeface="Calibri" pitchFamily="34" charset="0"/>
                <a:ea typeface="Calibri" pitchFamily="34" charset="-122"/>
                <a:cs typeface="Calibri" pitchFamily="34" charset="-120"/>
              </a:rPr>
              <a:t>MULTI-READOUT ESTIMATORS</a:t>
            </a:r>
            <a:endParaRPr lang="en-US" sz="1050" dirty="0"/>
          </a:p>
        </p:txBody>
      </p:sp>
      <p:sp>
        <p:nvSpPr>
          <p:cNvPr id="18" name="Text 16"/>
          <p:cNvSpPr/>
          <p:nvPr/>
        </p:nvSpPr>
        <p:spPr>
          <a:xfrm>
            <a:off x="7022592" y="4590288"/>
            <a:ext cx="4261104" cy="530352"/>
          </a:xfrm>
          <a:prstGeom prst="rect">
            <a:avLst/>
          </a:prstGeom>
          <a:noFill/>
          <a:ln/>
        </p:spPr>
        <p:txBody>
          <a:bodyPr wrap="square" lIns="0" tIns="0" rIns="0" bIns="0" rtlCol="0" anchor="t"/>
          <a:lstStyle/>
          <a:p>
            <a:pPr indent="0" marL="0">
              <a:lnSpc>
                <a:spcPts val="2000"/>
              </a:lnSpc>
              <a:buNone/>
            </a:pPr>
            <a:r>
              <a:rPr lang="en-US" sz="1300" dirty="0">
                <a:solidFill>
                  <a:srgbClr val="0E1730"/>
                </a:solidFill>
                <a:latin typeface="Calibri" pitchFamily="34" charset="0"/>
                <a:ea typeface="Calibri" pitchFamily="34" charset="-122"/>
                <a:cs typeface="Calibri" pitchFamily="34" charset="-120"/>
              </a:rPr>
              <a:t>BLUE(L, R) instead of a plain average;  END + TOP through the residual covariance</a:t>
            </a:r>
            <a:endParaRPr lang="en-US" sz="1300" dirty="0"/>
          </a:p>
        </p:txBody>
      </p:sp>
      <p:sp>
        <p:nvSpPr>
          <p:cNvPr id="19" name="Shape 17"/>
          <p:cNvSpPr/>
          <p:nvPr/>
        </p:nvSpPr>
        <p:spPr>
          <a:xfrm>
            <a:off x="566928" y="5440680"/>
            <a:ext cx="10972800" cy="777240"/>
          </a:xfrm>
          <a:prstGeom prst="roundRect">
            <a:avLst>
              <a:gd name="adj" fmla="val 5882"/>
            </a:avLst>
          </a:prstGeom>
          <a:solidFill>
            <a:srgbClr val="0E1730"/>
          </a:solidFill>
          <a:ln/>
        </p:spPr>
      </p:sp>
      <p:sp>
        <p:nvSpPr>
          <p:cNvPr id="20" name="Text 18"/>
          <p:cNvSpPr/>
          <p:nvPr/>
        </p:nvSpPr>
        <p:spPr>
          <a:xfrm>
            <a:off x="914400" y="5440680"/>
            <a:ext cx="10332720" cy="777240"/>
          </a:xfrm>
          <a:prstGeom prst="rect">
            <a:avLst/>
          </a:prstGeom>
          <a:noFill/>
          <a:ln/>
        </p:spPr>
        <p:txBody>
          <a:bodyPr wrap="square" lIns="0" tIns="0" rIns="0" bIns="0" rtlCol="0" anchor="ctr"/>
          <a:lstStyle/>
          <a:p>
            <a:pPr indent="0" marL="0">
              <a:lnSpc>
                <a:spcPts val="1900"/>
              </a:lnSpc>
              <a:buNone/>
            </a:pPr>
            <a:r>
              <a:rPr lang="en-US" sz="1300" dirty="0">
                <a:solidFill>
                  <a:srgbClr val="D5DDEA"/>
                </a:solidFill>
                <a:latin typeface="Calibri" pitchFamily="34" charset="0"/>
                <a:ea typeface="Calibri" pitchFamily="34" charset="-122"/>
                <a:cs typeface="Calibri" pitchFamily="34" charset="-120"/>
              </a:rPr>
              <a:t>σoptical  →  SiPM SPTR  →  front-end  →  clock / common mode.      58.6 ps is the optical limit alone: if SPTR is of order 100 ps, winning 14 ps optically may matter less than halving the channel count.</a:t>
            </a:r>
            <a:endParaRPr lang="en-US" sz="1300" dirty="0"/>
          </a:p>
        </p:txBody>
      </p:sp>
      <p:sp>
        <p:nvSpPr>
          <p:cNvPr id="21" name="Text 19"/>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22" name="Text 20"/>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65760"/>
            <a:ext cx="10424160" cy="237744"/>
          </a:xfrm>
          <a:prstGeom prst="rect">
            <a:avLst/>
          </a:prstGeom>
          <a:noFill/>
          <a:ln/>
        </p:spPr>
        <p:txBody>
          <a:bodyPr wrap="square" lIns="0" tIns="0" rIns="0" bIns="0" rtlCol="0" anchor="ctr"/>
          <a:lstStyle/>
          <a:p>
            <a:pPr indent="0" marL="0">
              <a:buNone/>
            </a:pPr>
            <a:r>
              <a:rPr lang="en-US" sz="1100" b="1" spc="140" kern="0" dirty="0">
                <a:solidFill>
                  <a:srgbClr val="1FA5C8"/>
                </a:solidFill>
                <a:latin typeface="Calibri" pitchFamily="34" charset="0"/>
                <a:ea typeface="Calibri" pitchFamily="34" charset="-122"/>
                <a:cs typeface="Calibri" pitchFamily="34" charset="-120"/>
              </a:rPr>
              <a:t>PROGRAMME</a:t>
            </a:r>
            <a:endParaRPr lang="en-US" sz="1100" dirty="0"/>
          </a:p>
        </p:txBody>
      </p:sp>
      <p:sp>
        <p:nvSpPr>
          <p:cNvPr id="3" name="Text 1"/>
          <p:cNvSpPr/>
          <p:nvPr/>
        </p:nvSpPr>
        <p:spPr>
          <a:xfrm>
            <a:off x="502920" y="603504"/>
            <a:ext cx="10424160" cy="502920"/>
          </a:xfrm>
          <a:prstGeom prst="rect">
            <a:avLst/>
          </a:prstGeom>
          <a:noFill/>
          <a:ln/>
        </p:spPr>
        <p:txBody>
          <a:bodyPr wrap="square" lIns="0" tIns="0" rIns="0" bIns="0" rtlCol="0" anchor="ctr"/>
          <a:lstStyle/>
          <a:p>
            <a:pPr indent="0" marL="0">
              <a:buNone/>
            </a:pPr>
            <a:r>
              <a:rPr lang="en-US" sz="2600" b="1" dirty="0">
                <a:solidFill>
                  <a:srgbClr val="0E1730"/>
                </a:solidFill>
                <a:latin typeface="Cambria" pitchFamily="34" charset="0"/>
                <a:ea typeface="Cambria" pitchFamily="34" charset="-122"/>
                <a:cs typeface="Cambria" pitchFamily="34" charset="-120"/>
              </a:rPr>
              <a:t>What the napkin tells us to do next</a:t>
            </a:r>
            <a:endParaRPr lang="en-US" sz="2600" dirty="0"/>
          </a:p>
        </p:txBody>
      </p:sp>
      <p:sp>
        <p:nvSpPr>
          <p:cNvPr id="4" name="Shape 2"/>
          <p:cNvSpPr/>
          <p:nvPr/>
        </p:nvSpPr>
        <p:spPr>
          <a:xfrm>
            <a:off x="566928" y="1700784"/>
            <a:ext cx="475488" cy="475488"/>
          </a:xfrm>
          <a:prstGeom prst="ellipse">
            <a:avLst/>
          </a:prstGeom>
          <a:solidFill>
            <a:srgbClr val="1FA5C8"/>
          </a:solidFill>
          <a:ln/>
        </p:spPr>
      </p:sp>
      <p:sp>
        <p:nvSpPr>
          <p:cNvPr id="5" name="Text 3"/>
          <p:cNvSpPr/>
          <p:nvPr/>
        </p:nvSpPr>
        <p:spPr>
          <a:xfrm>
            <a:off x="566928" y="170078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6" name="Text 4"/>
          <p:cNvSpPr/>
          <p:nvPr/>
        </p:nvSpPr>
        <p:spPr>
          <a:xfrm>
            <a:off x="1261872" y="1618488"/>
            <a:ext cx="10241280" cy="292608"/>
          </a:xfrm>
          <a:prstGeom prst="rect">
            <a:avLst/>
          </a:prstGeom>
          <a:noFill/>
          <a:ln/>
        </p:spPr>
        <p:txBody>
          <a:bodyPr wrap="square" lIns="0" tIns="0" rIns="0" bIns="0" rtlCol="0" anchor="ctr"/>
          <a:lstStyle/>
          <a:p>
            <a:pPr indent="0" marL="0">
              <a:buNone/>
            </a:pPr>
            <a:r>
              <a:rPr lang="en-US" sz="1600" b="1" dirty="0">
                <a:solidFill>
                  <a:srgbClr val="0E1730"/>
                </a:solidFill>
                <a:latin typeface="Cambria" pitchFamily="34" charset="0"/>
                <a:ea typeface="Cambria" pitchFamily="34" charset="-122"/>
                <a:cs typeface="Cambria" pitchFamily="34" charset="-120"/>
              </a:rPr>
              <a:t>Exploit the existing data first</a:t>
            </a:r>
            <a:endParaRPr lang="en-US" sz="1600" dirty="0"/>
          </a:p>
        </p:txBody>
      </p:sp>
      <p:sp>
        <p:nvSpPr>
          <p:cNvPr id="7" name="Text 5"/>
          <p:cNvSpPr/>
          <p:nvPr/>
        </p:nvSpPr>
        <p:spPr>
          <a:xfrm>
            <a:off x="1261872" y="1956816"/>
            <a:ext cx="10241280" cy="658368"/>
          </a:xfrm>
          <a:prstGeom prst="rect">
            <a:avLst/>
          </a:prstGeom>
          <a:noFill/>
          <a:ln/>
        </p:spPr>
        <p:txBody>
          <a:bodyPr wrap="square" lIns="0" tIns="0" rIns="0" bIns="0" rtlCol="0" anchor="t"/>
          <a:lstStyle/>
          <a:p>
            <a:pPr indent="0" marL="0">
              <a:lnSpc>
                <a:spcPts val="1800"/>
              </a:lnSpc>
              <a:buNone/>
            </a:pPr>
            <a:r>
              <a:rPr lang="en-US" sz="1300" dirty="0">
                <a:solidFill>
                  <a:srgbClr val="5A6478"/>
                </a:solidFill>
                <a:latin typeface="Calibri" pitchFamily="34" charset="0"/>
                <a:ea typeface="Calibri" pitchFamily="34" charset="-122"/>
                <a:cs typeface="Calibri" pitchFamily="34" charset="-120"/>
              </a:rPr>
              <a:t>Audit the ROOT files for arrival time, SiPM ID, face, PE, wavelength and true muon position — and fix the per-end versus L+R convention before any ratio is quoted.</a:t>
            </a:r>
            <a:endParaRPr lang="en-US" sz="1300" dirty="0"/>
          </a:p>
        </p:txBody>
      </p:sp>
      <p:sp>
        <p:nvSpPr>
          <p:cNvPr id="8" name="Shape 6"/>
          <p:cNvSpPr/>
          <p:nvPr/>
        </p:nvSpPr>
        <p:spPr>
          <a:xfrm>
            <a:off x="566928" y="2834640"/>
            <a:ext cx="475488" cy="475488"/>
          </a:xfrm>
          <a:prstGeom prst="ellipse">
            <a:avLst/>
          </a:prstGeom>
          <a:solidFill>
            <a:srgbClr val="1FA5C8"/>
          </a:solidFill>
          <a:ln/>
        </p:spPr>
      </p:sp>
      <p:sp>
        <p:nvSpPr>
          <p:cNvPr id="9" name="Text 7"/>
          <p:cNvSpPr/>
          <p:nvPr/>
        </p:nvSpPr>
        <p:spPr>
          <a:xfrm>
            <a:off x="566928" y="283464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10" name="Text 8"/>
          <p:cNvSpPr/>
          <p:nvPr/>
        </p:nvSpPr>
        <p:spPr>
          <a:xfrm>
            <a:off x="1261872" y="2752344"/>
            <a:ext cx="10241280" cy="292608"/>
          </a:xfrm>
          <a:prstGeom prst="rect">
            <a:avLst/>
          </a:prstGeom>
          <a:noFill/>
          <a:ln/>
        </p:spPr>
        <p:txBody>
          <a:bodyPr wrap="square" lIns="0" tIns="0" rIns="0" bIns="0" rtlCol="0" anchor="ctr"/>
          <a:lstStyle/>
          <a:p>
            <a:pPr indent="0" marL="0">
              <a:buNone/>
            </a:pPr>
            <a:r>
              <a:rPr lang="en-US" sz="1600" b="1" dirty="0">
                <a:solidFill>
                  <a:srgbClr val="0E1730"/>
                </a:solidFill>
                <a:latin typeface="Cambria" pitchFamily="34" charset="0"/>
                <a:ea typeface="Cambria" pitchFamily="34" charset="-122"/>
                <a:cs typeface="Cambria" pitchFamily="34" charset="-120"/>
              </a:rPr>
              <a:t>Close the 1 PE question with a ratio</a:t>
            </a:r>
            <a:endParaRPr lang="en-US" sz="1600" dirty="0"/>
          </a:p>
        </p:txBody>
      </p:sp>
      <p:sp>
        <p:nvSpPr>
          <p:cNvPr id="11" name="Text 9"/>
          <p:cNvSpPr/>
          <p:nvPr/>
        </p:nvSpPr>
        <p:spPr>
          <a:xfrm>
            <a:off x="1261872" y="3090672"/>
            <a:ext cx="10241280" cy="658368"/>
          </a:xfrm>
          <a:prstGeom prst="rect">
            <a:avLst/>
          </a:prstGeom>
          <a:noFill/>
          <a:ln/>
        </p:spPr>
        <p:txBody>
          <a:bodyPr wrap="square" lIns="0" tIns="0" rIns="0" bIns="0" rtlCol="0" anchor="t"/>
          <a:lstStyle/>
          <a:p>
            <a:pPr indent="0" marL="0">
              <a:lnSpc>
                <a:spcPts val="1800"/>
              </a:lnSpc>
              <a:buNone/>
            </a:pPr>
            <a:r>
              <a:rPr lang="en-US" sz="1300" dirty="0">
                <a:solidFill>
                  <a:srgbClr val="5A6478"/>
                </a:solidFill>
                <a:latin typeface="Calibri" pitchFamily="34" charset="0"/>
                <a:ea typeface="Calibri" pitchFamily="34" charset="-122"/>
                <a:cs typeface="Calibri" pitchFamily="34" charset="-120"/>
              </a:rPr>
              <a:t>Re-run END + TIR-only and END + Vikuiti under identical conditions. The napkin brackets the per-end yield ratio between 1 and 3; anything near 10³ is a surface or RINDEX definition problem.</a:t>
            </a:r>
            <a:endParaRPr lang="en-US" sz="1300" dirty="0"/>
          </a:p>
        </p:txBody>
      </p:sp>
      <p:sp>
        <p:nvSpPr>
          <p:cNvPr id="12" name="Shape 10"/>
          <p:cNvSpPr/>
          <p:nvPr/>
        </p:nvSpPr>
        <p:spPr>
          <a:xfrm>
            <a:off x="566928" y="3968496"/>
            <a:ext cx="475488" cy="475488"/>
          </a:xfrm>
          <a:prstGeom prst="ellipse">
            <a:avLst/>
          </a:prstGeom>
          <a:solidFill>
            <a:srgbClr val="1FA5C8"/>
          </a:solidFill>
          <a:ln/>
        </p:spPr>
      </p:sp>
      <p:sp>
        <p:nvSpPr>
          <p:cNvPr id="13" name="Text 11"/>
          <p:cNvSpPr/>
          <p:nvPr/>
        </p:nvSpPr>
        <p:spPr>
          <a:xfrm>
            <a:off x="566928" y="396849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14" name="Text 12"/>
          <p:cNvSpPr/>
          <p:nvPr/>
        </p:nvSpPr>
        <p:spPr>
          <a:xfrm>
            <a:off x="1261872" y="3886200"/>
            <a:ext cx="10241280" cy="292608"/>
          </a:xfrm>
          <a:prstGeom prst="rect">
            <a:avLst/>
          </a:prstGeom>
          <a:noFill/>
          <a:ln/>
        </p:spPr>
        <p:txBody>
          <a:bodyPr wrap="square" lIns="0" tIns="0" rIns="0" bIns="0" rtlCol="0" anchor="ctr"/>
          <a:lstStyle/>
          <a:p>
            <a:pPr indent="0" marL="0">
              <a:buNone/>
            </a:pPr>
            <a:r>
              <a:rPr lang="en-US" sz="1600" b="1" dirty="0">
                <a:solidFill>
                  <a:srgbClr val="0E1730"/>
                </a:solidFill>
                <a:latin typeface="Cambria" pitchFamily="34" charset="0"/>
                <a:ea typeface="Cambria" pitchFamily="34" charset="-122"/>
                <a:cs typeface="Cambria" pitchFamily="34" charset="-120"/>
              </a:rPr>
              <a:t>Separate the two ablations</a:t>
            </a:r>
            <a:endParaRPr lang="en-US" sz="1600" dirty="0"/>
          </a:p>
        </p:txBody>
      </p:sp>
      <p:sp>
        <p:nvSpPr>
          <p:cNvPr id="15" name="Text 13"/>
          <p:cNvSpPr/>
          <p:nvPr/>
        </p:nvSpPr>
        <p:spPr>
          <a:xfrm>
            <a:off x="1261872" y="4224528"/>
            <a:ext cx="10241280" cy="658368"/>
          </a:xfrm>
          <a:prstGeom prst="rect">
            <a:avLst/>
          </a:prstGeom>
          <a:noFill/>
          <a:ln/>
        </p:spPr>
        <p:txBody>
          <a:bodyPr wrap="square" lIns="0" tIns="0" rIns="0" bIns="0" rtlCol="0" anchor="t"/>
          <a:lstStyle/>
          <a:p>
            <a:pPr indent="0" marL="0">
              <a:lnSpc>
                <a:spcPts val="1800"/>
              </a:lnSpc>
              <a:buNone/>
            </a:pPr>
            <a:r>
              <a:rPr lang="en-US" sz="1300" dirty="0">
                <a:solidFill>
                  <a:srgbClr val="5A6478"/>
                </a:solidFill>
                <a:latin typeface="Calibri" pitchFamily="34" charset="0"/>
                <a:ea typeface="Calibri" pitchFamily="34" charset="-122"/>
                <a:cs typeface="Calibri" pitchFamily="34" charset="-120"/>
              </a:rPr>
              <a:t>Masking a channel offline is not the same as removing the sensor from the geometry: physical removal changes the optical boundary condition and therefore the transport.</a:t>
            </a:r>
            <a:endParaRPr lang="en-US" sz="1300" dirty="0"/>
          </a:p>
        </p:txBody>
      </p:sp>
      <p:sp>
        <p:nvSpPr>
          <p:cNvPr id="16" name="Shape 14"/>
          <p:cNvSpPr/>
          <p:nvPr/>
        </p:nvSpPr>
        <p:spPr>
          <a:xfrm>
            <a:off x="566928" y="5102352"/>
            <a:ext cx="475488" cy="475488"/>
          </a:xfrm>
          <a:prstGeom prst="ellipse">
            <a:avLst/>
          </a:prstGeom>
          <a:solidFill>
            <a:srgbClr val="1FA5C8"/>
          </a:solidFill>
          <a:ln/>
        </p:spPr>
      </p:sp>
      <p:sp>
        <p:nvSpPr>
          <p:cNvPr id="17" name="Text 15"/>
          <p:cNvSpPr/>
          <p:nvPr/>
        </p:nvSpPr>
        <p:spPr>
          <a:xfrm>
            <a:off x="566928" y="51023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D</a:t>
            </a:r>
            <a:endParaRPr lang="en-US" sz="1700" dirty="0"/>
          </a:p>
        </p:txBody>
      </p:sp>
      <p:sp>
        <p:nvSpPr>
          <p:cNvPr id="18" name="Text 16"/>
          <p:cNvSpPr/>
          <p:nvPr/>
        </p:nvSpPr>
        <p:spPr>
          <a:xfrm>
            <a:off x="1261872" y="5020056"/>
            <a:ext cx="10241280" cy="292608"/>
          </a:xfrm>
          <a:prstGeom prst="rect">
            <a:avLst/>
          </a:prstGeom>
          <a:noFill/>
          <a:ln/>
        </p:spPr>
        <p:txBody>
          <a:bodyPr wrap="square" lIns="0" tIns="0" rIns="0" bIns="0" rtlCol="0" anchor="ctr"/>
          <a:lstStyle/>
          <a:p>
            <a:pPr indent="0" marL="0">
              <a:buNone/>
            </a:pPr>
            <a:r>
              <a:rPr lang="en-US" sz="1600" b="1" dirty="0">
                <a:solidFill>
                  <a:srgbClr val="0E1730"/>
                </a:solidFill>
                <a:latin typeface="Cambria" pitchFamily="34" charset="0"/>
                <a:ea typeface="Cambria" pitchFamily="34" charset="-122"/>
                <a:cs typeface="Cambria" pitchFamily="34" charset="-120"/>
              </a:rPr>
              <a:t>Report a Pareto front, not a minimum</a:t>
            </a:r>
            <a:endParaRPr lang="en-US" sz="1600" dirty="0"/>
          </a:p>
        </p:txBody>
      </p:sp>
      <p:sp>
        <p:nvSpPr>
          <p:cNvPr id="19" name="Text 17"/>
          <p:cNvSpPr/>
          <p:nvPr/>
        </p:nvSpPr>
        <p:spPr>
          <a:xfrm>
            <a:off x="1261872" y="5358384"/>
            <a:ext cx="10241280" cy="658368"/>
          </a:xfrm>
          <a:prstGeom prst="rect">
            <a:avLst/>
          </a:prstGeom>
          <a:noFill/>
          <a:ln/>
        </p:spPr>
        <p:txBody>
          <a:bodyPr wrap="square" lIns="0" tIns="0" rIns="0" bIns="0" rtlCol="0" anchor="t"/>
          <a:lstStyle/>
          <a:p>
            <a:pPr indent="0" marL="0">
              <a:lnSpc>
                <a:spcPts val="1800"/>
              </a:lnSpc>
              <a:buNone/>
            </a:pPr>
            <a:r>
              <a:rPr lang="en-US" sz="1300" dirty="0">
                <a:solidFill>
                  <a:srgbClr val="5A6478"/>
                </a:solidFill>
                <a:latin typeface="Calibri" pitchFamily="34" charset="0"/>
                <a:ea typeface="Calibri" pitchFamily="34" charset="-122"/>
                <a:cs typeface="Calibri" pitchFamily="34" charset="-120"/>
              </a:rPr>
              <a:t>σt (mean and worst case in x) against the number of channels, with SPTR and front-end jitter injected. Quadrature does not automatically apply to multi-channel estimators.</a:t>
            </a:r>
            <a:endParaRPr lang="en-US" sz="1300" dirty="0"/>
          </a:p>
        </p:txBody>
      </p:sp>
      <p:sp>
        <p:nvSpPr>
          <p:cNvPr id="20" name="Text 18"/>
          <p:cNvSpPr/>
          <p:nvPr/>
        </p:nvSpPr>
        <p:spPr>
          <a:xfrm>
            <a:off x="502920" y="6382512"/>
            <a:ext cx="1042416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SHiP Timing Detector  ·  1.4 m scintillator bar  ·  first principles before Geant4</a:t>
            </a:r>
            <a:endParaRPr lang="en-US" sz="900" dirty="0"/>
          </a:p>
        </p:txBody>
      </p:sp>
      <p:sp>
        <p:nvSpPr>
          <p:cNvPr id="21" name="Text 19"/>
          <p:cNvSpPr/>
          <p:nvPr/>
        </p:nvSpPr>
        <p:spPr>
          <a:xfrm>
            <a:off x="11247120" y="6382512"/>
            <a:ext cx="457200" cy="274320"/>
          </a:xfrm>
          <a:prstGeom prst="rect">
            <a:avLst/>
          </a:prstGeom>
          <a:noFill/>
          <a:ln/>
        </p:spPr>
        <p:txBody>
          <a:bodyPr wrap="square" lIns="0" tIns="0" rIns="0" bIns="0" rtlCol="0" anchor="ctr"/>
          <a:lstStyle/>
          <a:p>
            <a:pPr algn="r" indent="0" marL="0">
              <a:buNone/>
            </a:pPr>
            <a:r>
              <a:rPr lang="en-US" sz="900" dirty="0">
                <a:solidFill>
                  <a:srgbClr val="9AA3B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822960" y="777240"/>
            <a:ext cx="10515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messages</a:t>
            </a:r>
            <a:endParaRPr lang="en-US" sz="3200" dirty="0"/>
          </a:p>
        </p:txBody>
      </p:sp>
      <p:sp>
        <p:nvSpPr>
          <p:cNvPr id="3" name="Shape 1"/>
          <p:cNvSpPr/>
          <p:nvPr/>
        </p:nvSpPr>
        <p:spPr>
          <a:xfrm>
            <a:off x="822960" y="1709928"/>
            <a:ext cx="502920" cy="502920"/>
          </a:xfrm>
          <a:prstGeom prst="ellipse">
            <a:avLst/>
          </a:prstGeom>
          <a:solidFill>
            <a:srgbClr val="1FA5C8"/>
          </a:solidFill>
          <a:ln/>
        </p:spPr>
      </p:sp>
      <p:sp>
        <p:nvSpPr>
          <p:cNvPr id="4" name="Text 2"/>
          <p:cNvSpPr/>
          <p:nvPr/>
        </p:nvSpPr>
        <p:spPr>
          <a:xfrm>
            <a:off x="822960" y="1709928"/>
            <a:ext cx="502920" cy="502920"/>
          </a:xfrm>
          <a:prstGeom prst="rect">
            <a:avLst/>
          </a:prstGeom>
          <a:noFill/>
          <a:ln/>
        </p:spPr>
        <p:txBody>
          <a:bodyPr wrap="square" lIns="0" tIns="0" rIns="0" bIns="0" rtlCol="0" anchor="ctr"/>
          <a:lstStyle/>
          <a:p>
            <a:pPr algn="ctr" indent="0" marL="0">
              <a:buNone/>
            </a:pPr>
            <a:r>
              <a:rPr lang="en-US" sz="2000" b="1" dirty="0">
                <a:solidFill>
                  <a:srgbClr val="0E1730"/>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554480" y="1600200"/>
            <a:ext cx="96926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Geometry explains the scale.</a:t>
            </a:r>
            <a:endParaRPr lang="en-US" sz="2100" dirty="0"/>
          </a:p>
        </p:txBody>
      </p:sp>
      <p:sp>
        <p:nvSpPr>
          <p:cNvPr id="6" name="Text 4"/>
          <p:cNvSpPr/>
          <p:nvPr/>
        </p:nvSpPr>
        <p:spPr>
          <a:xfrm>
            <a:off x="1554480" y="2011680"/>
            <a:ext cx="9692640" cy="640080"/>
          </a:xfrm>
          <a:prstGeom prst="rect">
            <a:avLst/>
          </a:prstGeom>
          <a:noFill/>
          <a:ln/>
        </p:spPr>
        <p:txBody>
          <a:bodyPr wrap="square" lIns="0" tIns="0" rIns="0" bIns="0" rtlCol="0" anchor="t"/>
          <a:lstStyle/>
          <a:p>
            <a:pPr indent="0" marL="0">
              <a:lnSpc>
                <a:spcPts val="1900"/>
              </a:lnSpc>
              <a:buNone/>
            </a:pPr>
            <a:r>
              <a:rPr lang="en-US" sz="1350" dirty="0">
                <a:solidFill>
                  <a:srgbClr val="A9B4C8"/>
                </a:solidFill>
                <a:latin typeface="Calibri" pitchFamily="34" charset="0"/>
                <a:ea typeface="Calibri" pitchFamily="34" charset="-122"/>
                <a:cs typeface="Calibri" pitchFamily="34" charset="-120"/>
              </a:rPr>
              <a:t>TIR, propagation and repeated reflection already predict the dominant trends — and reproduce the textbook where the textbook applies.</a:t>
            </a:r>
            <a:endParaRPr lang="en-US" sz="1350" dirty="0"/>
          </a:p>
        </p:txBody>
      </p:sp>
      <p:sp>
        <p:nvSpPr>
          <p:cNvPr id="7" name="Shape 5"/>
          <p:cNvSpPr/>
          <p:nvPr/>
        </p:nvSpPr>
        <p:spPr>
          <a:xfrm>
            <a:off x="822960" y="2944368"/>
            <a:ext cx="502920" cy="502920"/>
          </a:xfrm>
          <a:prstGeom prst="ellipse">
            <a:avLst/>
          </a:prstGeom>
          <a:solidFill>
            <a:srgbClr val="1FA5C8"/>
          </a:solidFill>
          <a:ln/>
        </p:spPr>
      </p:sp>
      <p:sp>
        <p:nvSpPr>
          <p:cNvPr id="8" name="Text 6"/>
          <p:cNvSpPr/>
          <p:nvPr/>
        </p:nvSpPr>
        <p:spPr>
          <a:xfrm>
            <a:off x="822960" y="2944368"/>
            <a:ext cx="502920" cy="502920"/>
          </a:xfrm>
          <a:prstGeom prst="rect">
            <a:avLst/>
          </a:prstGeom>
          <a:noFill/>
          <a:ln/>
        </p:spPr>
        <p:txBody>
          <a:bodyPr wrap="square" lIns="0" tIns="0" rIns="0" bIns="0" rtlCol="0" anchor="ctr"/>
          <a:lstStyle/>
          <a:p>
            <a:pPr algn="ctr" indent="0" marL="0">
              <a:buNone/>
            </a:pPr>
            <a:r>
              <a:rPr lang="en-US" sz="2000" b="1" dirty="0">
                <a:solidFill>
                  <a:srgbClr val="0E1730"/>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554480" y="2834640"/>
            <a:ext cx="96926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More light is not necessarily better timing.</a:t>
            </a:r>
            <a:endParaRPr lang="en-US" sz="2100" dirty="0"/>
          </a:p>
        </p:txBody>
      </p:sp>
      <p:sp>
        <p:nvSpPr>
          <p:cNvPr id="10" name="Text 8"/>
          <p:cNvSpPr/>
          <p:nvPr/>
        </p:nvSpPr>
        <p:spPr>
          <a:xfrm>
            <a:off x="1554480" y="3246120"/>
            <a:ext cx="9692640" cy="640080"/>
          </a:xfrm>
          <a:prstGeom prst="rect">
            <a:avLst/>
          </a:prstGeom>
          <a:noFill/>
          <a:ln/>
        </p:spPr>
        <p:txBody>
          <a:bodyPr wrap="square" lIns="0" tIns="0" rIns="0" bIns="0" rtlCol="0" anchor="t"/>
          <a:lstStyle/>
          <a:p>
            <a:pPr indent="0" marL="0">
              <a:lnSpc>
                <a:spcPts val="1900"/>
              </a:lnSpc>
              <a:buNone/>
            </a:pPr>
            <a:r>
              <a:rPr lang="en-US" sz="1350" dirty="0">
                <a:solidFill>
                  <a:srgbClr val="A9B4C8"/>
                </a:solidFill>
                <a:latin typeface="Calibri" pitchFamily="34" charset="0"/>
                <a:ea typeface="Calibri" pitchFamily="34" charset="-122"/>
                <a:cs typeface="Calibri" pitchFamily="34" charset="-120"/>
              </a:rPr>
              <a:t>Early TIR photons and late reflector-recovered photons carry different information. Total Npe is the wrong figure of merit for a timing detector.</a:t>
            </a:r>
            <a:endParaRPr lang="en-US" sz="1350" dirty="0"/>
          </a:p>
        </p:txBody>
      </p:sp>
      <p:sp>
        <p:nvSpPr>
          <p:cNvPr id="11" name="Shape 9"/>
          <p:cNvSpPr/>
          <p:nvPr/>
        </p:nvSpPr>
        <p:spPr>
          <a:xfrm>
            <a:off x="822960" y="4178808"/>
            <a:ext cx="502920" cy="502920"/>
          </a:xfrm>
          <a:prstGeom prst="ellipse">
            <a:avLst/>
          </a:prstGeom>
          <a:solidFill>
            <a:srgbClr val="1FA5C8"/>
          </a:solidFill>
          <a:ln/>
        </p:spPr>
      </p:sp>
      <p:sp>
        <p:nvSpPr>
          <p:cNvPr id="12" name="Text 10"/>
          <p:cNvSpPr/>
          <p:nvPr/>
        </p:nvSpPr>
        <p:spPr>
          <a:xfrm>
            <a:off x="822960" y="4178808"/>
            <a:ext cx="502920" cy="502920"/>
          </a:xfrm>
          <a:prstGeom prst="rect">
            <a:avLst/>
          </a:prstGeom>
          <a:noFill/>
          <a:ln/>
        </p:spPr>
        <p:txBody>
          <a:bodyPr wrap="square" lIns="0" tIns="0" rIns="0" bIns="0" rtlCol="0" anchor="ctr"/>
          <a:lstStyle/>
          <a:p>
            <a:pPr algn="ctr" indent="0" marL="0">
              <a:buNone/>
            </a:pPr>
            <a:r>
              <a:rPr lang="en-US" sz="2000" b="1" dirty="0">
                <a:solidFill>
                  <a:srgbClr val="0E1730"/>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54480" y="4069080"/>
            <a:ext cx="96926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optimisation problem is still open.</a:t>
            </a:r>
            <a:endParaRPr lang="en-US" sz="2100" dirty="0"/>
          </a:p>
        </p:txBody>
      </p:sp>
      <p:sp>
        <p:nvSpPr>
          <p:cNvPr id="14" name="Text 12"/>
          <p:cNvSpPr/>
          <p:nvPr/>
        </p:nvSpPr>
        <p:spPr>
          <a:xfrm>
            <a:off x="1554480" y="4480560"/>
            <a:ext cx="9692640" cy="640080"/>
          </a:xfrm>
          <a:prstGeom prst="rect">
            <a:avLst/>
          </a:prstGeom>
          <a:noFill/>
          <a:ln/>
        </p:spPr>
        <p:txBody>
          <a:bodyPr wrap="square" lIns="0" tIns="0" rIns="0" bIns="0" rtlCol="0" anchor="t"/>
          <a:lstStyle/>
          <a:p>
            <a:pPr indent="0" marL="0">
              <a:lnSpc>
                <a:spcPts val="1900"/>
              </a:lnSpc>
              <a:buNone/>
            </a:pPr>
            <a:r>
              <a:rPr lang="en-US" sz="1350" dirty="0">
                <a:solidFill>
                  <a:srgbClr val="A9B4C8"/>
                </a:solidFill>
                <a:latin typeface="Calibri" pitchFamily="34" charset="0"/>
                <a:ea typeface="Calibri" pitchFamily="34" charset="-122"/>
                <a:cs typeface="Calibri" pitchFamily="34" charset="-120"/>
              </a:rPr>
              <a:t>The optimum is not the maximum number of SiPM. It is the Pareto optimum of σt against the number of channels, once SPTR and front-end jitter are in.</a:t>
            </a:r>
            <a:endParaRPr lang="en-US" sz="1350" dirty="0"/>
          </a:p>
        </p:txBody>
      </p:sp>
      <p:sp>
        <p:nvSpPr>
          <p:cNvPr id="15" name="Shape 13"/>
          <p:cNvSpPr/>
          <p:nvPr/>
        </p:nvSpPr>
        <p:spPr>
          <a:xfrm>
            <a:off x="822960" y="5349240"/>
            <a:ext cx="10424160" cy="914400"/>
          </a:xfrm>
          <a:prstGeom prst="roundRect">
            <a:avLst>
              <a:gd name="adj" fmla="val 5000"/>
            </a:avLst>
          </a:prstGeom>
          <a:solidFill>
            <a:srgbClr val="1B2848"/>
          </a:solidFill>
          <a:ln/>
        </p:spPr>
      </p:sp>
      <p:sp>
        <p:nvSpPr>
          <p:cNvPr id="16" name="Text 14"/>
          <p:cNvSpPr/>
          <p:nvPr/>
        </p:nvSpPr>
        <p:spPr>
          <a:xfrm>
            <a:off x="1143000" y="5349240"/>
            <a:ext cx="9784080" cy="914400"/>
          </a:xfrm>
          <a:prstGeom prst="rect">
            <a:avLst/>
          </a:prstGeom>
          <a:noFill/>
          <a:ln/>
        </p:spPr>
        <p:txBody>
          <a:bodyPr wrap="square" lIns="0" tIns="0" rIns="0" bIns="0" rtlCol="0" anchor="ctr"/>
          <a:lstStyle/>
          <a:p>
            <a:pPr indent="0" marL="0">
              <a:buNone/>
            </a:pPr>
            <a:r>
              <a:rPr lang="en-US" sz="2100" i="1" dirty="0">
                <a:solidFill>
                  <a:srgbClr val="1FA5C8"/>
                </a:solidFill>
                <a:latin typeface="Cambria" pitchFamily="34" charset="0"/>
                <a:ea typeface="Cambria" pitchFamily="34" charset="-122"/>
                <a:cs typeface="Cambria" pitchFamily="34" charset="-120"/>
              </a:rPr>
              <a:t>EJ-230 + END + Vikuiti is the best tested point — not yet the optimum.</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should we expect before we simulate?</dc:title>
  <dc:subject>PptxGenJS Presentation</dc:subject>
  <dc:creator>Rene Rios (ULS)</dc:creator>
  <cp:lastModifiedBy>Rene Rios (ULS)</cp:lastModifiedBy>
  <cp:revision>1</cp:revision>
  <dcterms:created xsi:type="dcterms:W3CDTF">2026-08-19T16:08:49Z</dcterms:created>
  <dcterms:modified xsi:type="dcterms:W3CDTF">2026-08-19T16:08:49Z</dcterms:modified>
</cp:coreProperties>
</file>